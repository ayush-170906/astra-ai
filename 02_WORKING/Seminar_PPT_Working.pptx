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2" r:id="rId1"/>
  </p:sldMasterIdLst>
  <p:notesMasterIdLst>
    <p:notesMasterId r:id="rId14"/>
  </p:notesMasterIdLst>
  <p:sldIdLst>
    <p:sldId id="332" r:id="rId2"/>
    <p:sldId id="409" r:id="rId3"/>
    <p:sldId id="424" r:id="rId4"/>
    <p:sldId id="429" r:id="rId5"/>
    <p:sldId id="430" r:id="rId6"/>
    <p:sldId id="431" r:id="rId7"/>
    <p:sldId id="432" r:id="rId8"/>
    <p:sldId id="445" r:id="rId28"/>
    <p:sldId id="436" r:id="rId19"/>
    <p:sldId id="433" r:id="rId9"/>
    <p:sldId id="437" r:id="rId20"/>
    <p:sldId id="438" r:id="rId21"/>
    <p:sldId id="439" r:id="rId22"/>
    <p:sldId id="440" r:id="rId23"/>
    <p:sldId id="435" r:id="rId10"/>
    <p:sldId id="441" r:id="rId24"/>
    <p:sldId id="442" r:id="rId25"/>
    <p:sldId id="443" r:id="rId26"/>
    <p:sldId id="434" r:id="rId11"/>
    <p:sldId id="423" r:id="rId12"/>
    <p:sldId id="444" r:id="rId27"/>
    <p:sldId id="398" r:id="rId13"/>
  </p:sldIdLst>
  <p:sldSz cx="12192000" cy="68580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4.xml"/><Relationship Id="rId11" Type="http://schemas.openxmlformats.org/officeDocument/2006/relationships/slide" Target="slides/slide18.xml"/><Relationship Id="rId12" Type="http://schemas.openxmlformats.org/officeDocument/2006/relationships/slide" Target="slides/slide19.xml"/><Relationship Id="rId13" Type="http://schemas.openxmlformats.org/officeDocument/2006/relationships/slide" Target="slides/slide2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8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20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23380B-9400-0BCB-AF9C-59B3531AE5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EDAC2-1C47-FE53-A454-C7ACACD578C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45B5CAC2-9EDE-4561-BB66-37D3494C04E2}" type="datetimeFigureOut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5005D13-356F-EA9F-1F49-300A8DCEBA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C484573-2E8C-D028-2EB5-2D74C6235A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7CB2D-8E75-EB0E-84DE-393E5CF822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E3E5C-80B5-D2B1-D15D-58C23B854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EEC5080B-2A15-4328-8D80-2C91D3FC66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9">
            <a:extLst>
              <a:ext uri="{FF2B5EF4-FFF2-40B4-BE49-F238E27FC236}">
                <a16:creationId xmlns:a16="http://schemas.microsoft.com/office/drawing/2014/main" id="{DD08ABBD-1895-9ACF-5D62-890020C175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23910DB-7461-48D0-853D-364384B2C5FC}" type="slidenum">
              <a:rPr lang="en-US" altLang="en-US">
                <a:solidFill>
                  <a:srgbClr val="000000"/>
                </a:solidFill>
              </a:rPr>
              <a:pPr/>
              <a:t>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195" name="Text Box 1">
            <a:extLst>
              <a:ext uri="{FF2B5EF4-FFF2-40B4-BE49-F238E27FC236}">
                <a16:creationId xmlns:a16="http://schemas.microsoft.com/office/drawing/2014/main" id="{743DEB2D-6E80-9593-CADE-98E56EC15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3164A217-7C44-6151-B453-9558F46CC153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9">
            <a:extLst>
              <a:ext uri="{FF2B5EF4-FFF2-40B4-BE49-F238E27FC236}">
                <a16:creationId xmlns:a16="http://schemas.microsoft.com/office/drawing/2014/main" id="{AA8CBBA7-9BAD-15A4-7A9A-1101FD3134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C20326A-5ABD-4AD0-AA46-E8EBAA6E7FA6}" type="slidenum">
              <a:rPr lang="en-US" altLang="en-US">
                <a:solidFill>
                  <a:srgbClr val="000000"/>
                </a:solidFill>
              </a:rPr>
              <a:pPr/>
              <a:t>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243" name="Text Box 1">
            <a:extLst>
              <a:ext uri="{FF2B5EF4-FFF2-40B4-BE49-F238E27FC236}">
                <a16:creationId xmlns:a16="http://schemas.microsoft.com/office/drawing/2014/main" id="{EE29D776-4A44-598D-F3EF-BE4E41C86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3B978B21-6835-DD17-82BB-D1BB934C6C9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9">
            <a:extLst>
              <a:ext uri="{FF2B5EF4-FFF2-40B4-BE49-F238E27FC236}">
                <a16:creationId xmlns:a16="http://schemas.microsoft.com/office/drawing/2014/main" id="{691B4D59-8B66-B3B3-EC6E-D8B2DBE1C4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816CE76-C676-4326-B0C2-48560662835D}" type="slidenum">
              <a:rPr lang="en-US" altLang="en-US">
                <a:solidFill>
                  <a:srgbClr val="000000"/>
                </a:solidFill>
              </a:rPr>
              <a:pPr/>
              <a:t>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2291" name="Text Box 1">
            <a:extLst>
              <a:ext uri="{FF2B5EF4-FFF2-40B4-BE49-F238E27FC236}">
                <a16:creationId xmlns:a16="http://schemas.microsoft.com/office/drawing/2014/main" id="{356FED3A-AFE6-47F3-B11E-BC9F10C0C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FB673580-BE9D-5FA1-73D4-37EE265448A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9">
            <a:extLst>
              <a:ext uri="{FF2B5EF4-FFF2-40B4-BE49-F238E27FC236}">
                <a16:creationId xmlns:a16="http://schemas.microsoft.com/office/drawing/2014/main" id="{A3AE8B09-B452-9382-8514-BDBFA94B31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5603A25-AF68-4DB5-9D92-E7CC7825083B}" type="slidenum">
              <a:rPr lang="en-US" altLang="en-US">
                <a:solidFill>
                  <a:srgbClr val="000000"/>
                </a:solidFill>
              </a:rPr>
              <a:pPr/>
              <a:t>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4339" name="Text Box 1">
            <a:extLst>
              <a:ext uri="{FF2B5EF4-FFF2-40B4-BE49-F238E27FC236}">
                <a16:creationId xmlns:a16="http://schemas.microsoft.com/office/drawing/2014/main" id="{3BAF09F2-3C46-66C4-8593-F7A86083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C75D3A40-9FEC-FC2D-C1FC-E7724907456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9">
            <a:extLst>
              <a:ext uri="{FF2B5EF4-FFF2-40B4-BE49-F238E27FC236}">
                <a16:creationId xmlns:a16="http://schemas.microsoft.com/office/drawing/2014/main" id="{E2C1DE3F-D139-ACE2-92F0-41847725A7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A0CACB0-AC06-48BC-8513-C1FDCA1D84E5}" type="slidenum">
              <a:rPr lang="en-US" altLang="en-US">
                <a:solidFill>
                  <a:srgbClr val="000000"/>
                </a:solidFill>
              </a:rPr>
              <a:pPr/>
              <a:t>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6387" name="Text Box 1">
            <a:extLst>
              <a:ext uri="{FF2B5EF4-FFF2-40B4-BE49-F238E27FC236}">
                <a16:creationId xmlns:a16="http://schemas.microsoft.com/office/drawing/2014/main" id="{EAD1D6F9-E61D-A2F6-19B4-3696F54E0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723F350E-1FB8-BAEC-9BEB-461AF9F42B8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9">
            <a:extLst>
              <a:ext uri="{FF2B5EF4-FFF2-40B4-BE49-F238E27FC236}">
                <a16:creationId xmlns:a16="http://schemas.microsoft.com/office/drawing/2014/main" id="{68FAC316-386F-6850-D8FF-00C5C8F5B3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5E91C79-8ED1-4EEF-8432-326F08609B6B}" type="slidenum">
              <a:rPr lang="en-US" altLang="en-US">
                <a:solidFill>
                  <a:srgbClr val="000000"/>
                </a:solidFill>
              </a:rPr>
              <a:pPr/>
              <a:t>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8435" name="Text Box 1">
            <a:extLst>
              <a:ext uri="{FF2B5EF4-FFF2-40B4-BE49-F238E27FC236}">
                <a16:creationId xmlns:a16="http://schemas.microsoft.com/office/drawing/2014/main" id="{4AC50382-49D2-955E-CF2D-B1C6BC323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F6F6ED03-79D7-6F55-5642-1384B0E0F83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9">
            <a:extLst>
              <a:ext uri="{FF2B5EF4-FFF2-40B4-BE49-F238E27FC236}">
                <a16:creationId xmlns:a16="http://schemas.microsoft.com/office/drawing/2014/main" id="{7059B7F8-6129-0524-3200-ED269D5B91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C14B98F-411D-4F22-B473-6687ACB5CB71}" type="slidenum">
              <a:rPr lang="en-US" altLang="en-US">
                <a:solidFill>
                  <a:srgbClr val="000000"/>
                </a:solidFill>
              </a:rPr>
              <a:pPr/>
              <a:t>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0483" name="Text Box 1">
            <a:extLst>
              <a:ext uri="{FF2B5EF4-FFF2-40B4-BE49-F238E27FC236}">
                <a16:creationId xmlns:a16="http://schemas.microsoft.com/office/drawing/2014/main" id="{666145FD-98F6-4AB9-ED21-9979C084D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03A55113-284F-7AFB-F60C-F62F7EEC1AB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9">
            <a:extLst>
              <a:ext uri="{FF2B5EF4-FFF2-40B4-BE49-F238E27FC236}">
                <a16:creationId xmlns:a16="http://schemas.microsoft.com/office/drawing/2014/main" id="{F3B33ECB-88E7-2BDE-CE7A-B6A64F341E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68B0CD-114F-4BD1-AA89-208880D473FA}" type="slidenum">
              <a:rPr lang="en-US" altLang="en-US">
                <a:solidFill>
                  <a:srgbClr val="000000"/>
                </a:solidFill>
              </a:rPr>
              <a:pPr/>
              <a:t>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2531" name="Text Box 1">
            <a:extLst>
              <a:ext uri="{FF2B5EF4-FFF2-40B4-BE49-F238E27FC236}">
                <a16:creationId xmlns:a16="http://schemas.microsoft.com/office/drawing/2014/main" id="{450F2134-FA4D-7AF2-7F3A-777783AD6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3845A681-8427-23D8-FBF5-CCD061FEFF2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9">
            <a:extLst>
              <a:ext uri="{FF2B5EF4-FFF2-40B4-BE49-F238E27FC236}">
                <a16:creationId xmlns:a16="http://schemas.microsoft.com/office/drawing/2014/main" id="{2B32ED09-2DFE-611D-E295-5B2D88E11E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FFCB10D-E6D3-448B-B3CD-0B3C298B8A7C}" type="slidenum">
              <a:rPr lang="en-US" altLang="en-US">
                <a:solidFill>
                  <a:srgbClr val="000000"/>
                </a:solidFill>
              </a:rPr>
              <a:pPr/>
              <a:t>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4579" name="Text Box 1">
            <a:extLst>
              <a:ext uri="{FF2B5EF4-FFF2-40B4-BE49-F238E27FC236}">
                <a16:creationId xmlns:a16="http://schemas.microsoft.com/office/drawing/2014/main" id="{F92729BB-C24D-A5C5-4634-9FA02278E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5A5BAD47-1709-AC6C-0553-ECB721E7FD1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9">
            <a:extLst>
              <a:ext uri="{FF2B5EF4-FFF2-40B4-BE49-F238E27FC236}">
                <a16:creationId xmlns:a16="http://schemas.microsoft.com/office/drawing/2014/main" id="{229F1886-16E2-5F31-F357-CD0BBE4BB9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EF8E53B-E944-48A1-9C58-964E48792BB2}" type="slidenum">
              <a:rPr lang="en-US" altLang="en-US">
                <a:solidFill>
                  <a:srgbClr val="000000"/>
                </a:solidFill>
              </a:rPr>
              <a:pPr/>
              <a:t>10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6627" name="Text Box 1">
            <a:extLst>
              <a:ext uri="{FF2B5EF4-FFF2-40B4-BE49-F238E27FC236}">
                <a16:creationId xmlns:a16="http://schemas.microsoft.com/office/drawing/2014/main" id="{B03ECCF0-0273-D288-C5D0-3A463480E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D5EFB694-E385-29E2-54EF-5D9ED447BF7B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9">
            <a:extLst>
              <a:ext uri="{FF2B5EF4-FFF2-40B4-BE49-F238E27FC236}">
                <a16:creationId xmlns:a16="http://schemas.microsoft.com/office/drawing/2014/main" id="{C1D49118-1710-2FA4-9189-FD2C649CB9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F9AC1DA-A377-4B4C-8144-281322716CDA}" type="slidenum">
              <a:rPr lang="en-US" altLang="en-US">
                <a:solidFill>
                  <a:srgbClr val="000000"/>
                </a:solidFill>
              </a:rPr>
              <a:pPr/>
              <a:t>11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675" name="Text Box 1">
            <a:extLst>
              <a:ext uri="{FF2B5EF4-FFF2-40B4-BE49-F238E27FC236}">
                <a16:creationId xmlns:a16="http://schemas.microsoft.com/office/drawing/2014/main" id="{E2FB73ED-765D-7B87-B995-B3114BCB9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DE9E65B1-647B-A627-203D-344D9A56EAF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9">
            <a:extLst>
              <a:ext uri="{FF2B5EF4-FFF2-40B4-BE49-F238E27FC236}">
                <a16:creationId xmlns:a16="http://schemas.microsoft.com/office/drawing/2014/main" id="{E28FE8C7-E663-69F7-276B-E7E04F2C28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327919B-C873-4AFA-965D-787C1A007CAB}" type="slidenum">
              <a:rPr lang="en-US" altLang="en-US">
                <a:solidFill>
                  <a:srgbClr val="000000"/>
                </a:solidFill>
              </a:rPr>
              <a:pPr/>
              <a:t>12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0723" name="Text Box 1">
            <a:extLst>
              <a:ext uri="{FF2B5EF4-FFF2-40B4-BE49-F238E27FC236}">
                <a16:creationId xmlns:a16="http://schemas.microsoft.com/office/drawing/2014/main" id="{17F2CE33-0113-E495-2242-9B06D2196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FB95C6FA-7DFD-0714-0E91-916A8CBFC3D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AED52B-B3E2-5396-2028-7AA5F4E41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3" name="Rounded Rectangle 10">
            <a:extLst>
              <a:ext uri="{FF2B5EF4-FFF2-40B4-BE49-F238E27FC236}">
                <a16:creationId xmlns:a16="http://schemas.microsoft.com/office/drawing/2014/main" id="{1A504A78-71C1-90CE-2F62-AE45ACCDF142}"/>
              </a:ext>
            </a:extLst>
          </p:cNvPr>
          <p:cNvSpPr/>
          <p:nvPr/>
        </p:nvSpPr>
        <p:spPr>
          <a:xfrm>
            <a:off x="87313" y="69850"/>
            <a:ext cx="1201737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937632-78A7-8AF7-B103-84808A1B37E5}"/>
              </a:ext>
            </a:extLst>
          </p:cNvPr>
          <p:cNvSpPr/>
          <p:nvPr/>
        </p:nvSpPr>
        <p:spPr>
          <a:xfrm>
            <a:off x="84138" y="1449388"/>
            <a:ext cx="12028487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655C4-B9BA-9EF5-E08C-EAA87C637A2C}"/>
              </a:ext>
            </a:extLst>
          </p:cNvPr>
          <p:cNvSpPr/>
          <p:nvPr/>
        </p:nvSpPr>
        <p:spPr>
          <a:xfrm>
            <a:off x="84138" y="1397000"/>
            <a:ext cx="12028487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200095-E049-62C6-B2AD-4B140678A8D3}"/>
              </a:ext>
            </a:extLst>
          </p:cNvPr>
          <p:cNvSpPr/>
          <p:nvPr/>
        </p:nvSpPr>
        <p:spPr>
          <a:xfrm>
            <a:off x="84138" y="2976563"/>
            <a:ext cx="12028487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8DC19220-DC6F-59AE-6BF4-605785BDA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62D14F-A5E5-4C9B-B257-EA46F6C82C09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B6533485-1DE6-7FE4-A6F1-520D79571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FFFFAD92-DB2E-CBFB-9643-8F6D846D8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D1C0500-A41C-42F7-A5D6-7BD54DE4DA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3375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043AECF4-4FE5-B551-6388-99F3ADA82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3F8BD5-7435-4B25-92D8-4C0F1767DCE9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FE33C48-CB3A-7927-D4A6-C86E747B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951EBB1C-3276-1809-044F-3340877A9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92558-0592-4ADA-A157-4EAC2A0EEC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889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4AF057-6641-E094-E930-2B978810E9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5" name="Rounded Rectangle 10">
            <a:extLst>
              <a:ext uri="{FF2B5EF4-FFF2-40B4-BE49-F238E27FC236}">
                <a16:creationId xmlns:a16="http://schemas.microsoft.com/office/drawing/2014/main" id="{38B13D62-6807-3F7C-834C-83731CF2ADDE}"/>
              </a:ext>
            </a:extLst>
          </p:cNvPr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527ABC-50D4-398C-3BF4-2ED342332E61}"/>
              </a:ext>
            </a:extLst>
          </p:cNvPr>
          <p:cNvSpPr/>
          <p:nvPr/>
        </p:nvSpPr>
        <p:spPr>
          <a:xfrm flipV="1">
            <a:off x="92075" y="2376488"/>
            <a:ext cx="12018963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DCB3EC-CAA2-D501-271E-FDB16B05AC1F}"/>
              </a:ext>
            </a:extLst>
          </p:cNvPr>
          <p:cNvSpPr/>
          <p:nvPr/>
        </p:nvSpPr>
        <p:spPr>
          <a:xfrm>
            <a:off x="92075" y="2341563"/>
            <a:ext cx="12018963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4D9FBC-8B83-C6CE-65F6-2AB6DF2535CA}"/>
              </a:ext>
            </a:extLst>
          </p:cNvPr>
          <p:cNvSpPr/>
          <p:nvPr/>
        </p:nvSpPr>
        <p:spPr>
          <a:xfrm>
            <a:off x="90488" y="2468563"/>
            <a:ext cx="12020550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FA6CE31-38EA-069B-CFD4-2E841E1D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05CEC6-FCF4-427D-9944-0ECFFEB44AB0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75A7744-5156-BFFA-E534-1312EF675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49D05A6-322C-09BA-8821-9A0BCD0A5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5263" y="6208713"/>
            <a:ext cx="609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7B57FB9-C9AF-4AD4-85A9-193D86B372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3656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71B2B71A-29E7-595D-E1FA-BD6C99BC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A0CBF-065F-44D4-AFAB-1AD1C36D515B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8376592-B7A8-353B-FD0E-13C6FBA92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CBE6BA8B-4673-1BF8-CD1A-2C779CE32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BC735B-B9A6-4550-B167-904F751959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4247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043A9DCB-0DFD-944F-5CA4-4453AD5B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C9AB62-F31A-4B72-A3B8-F44B46669886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FD024FB-CB8F-7326-C34E-AEDDEC219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F8F5E26B-3A45-FABD-BC3A-F55CD3629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F4DF33-FF69-467B-8E48-F510D41ABA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485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40E40A7B-DD55-5128-E225-016947BCA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9621DF-E872-4B5C-8D54-F94A37A8FB4E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3AA2840-3235-22AB-D169-75A93C08C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706CABBD-A3A0-83B0-D8DF-8C9B55AD2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44FE52-BB0D-40E7-BE69-E1DE07DB18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0576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6FEA4A56-7C8C-9040-14AB-E918C5EBA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2E5F71-F15A-4CC5-9C79-9F15EDE1FE3F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F33517-51C4-CFC1-85BF-17FBA63EA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080A9CB9-A5A0-107A-7BE8-8516745D3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4798E-3921-47A5-8799-25A11383F0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9682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90DEBA-5853-DE5D-9317-C82467F736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5" name="Rounded Rectangle 10">
            <a:extLst>
              <a:ext uri="{FF2B5EF4-FFF2-40B4-BE49-F238E27FC236}">
                <a16:creationId xmlns:a16="http://schemas.microsoft.com/office/drawing/2014/main" id="{D63A5514-EEBD-A6BE-B323-2E79511E5070}"/>
              </a:ext>
            </a:extLst>
          </p:cNvPr>
          <p:cNvSpPr/>
          <p:nvPr/>
        </p:nvSpPr>
        <p:spPr>
          <a:xfrm>
            <a:off x="85725" y="69850"/>
            <a:ext cx="1201737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EB014888-BB5E-2886-2096-3004A349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6711C7-29F5-4740-84B2-90A810A801A9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95F1B8C-1035-0813-8275-5AA1E22CA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08CA444A-5587-50F7-20E5-D194E2D4A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F4EC5FD-7FE2-4D0B-99DE-348A5210D3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7985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8451D6-CDD3-CD88-4965-56044B77C408}"/>
              </a:ext>
            </a:extLst>
          </p:cNvPr>
          <p:cNvSpPr/>
          <p:nvPr/>
        </p:nvSpPr>
        <p:spPr>
          <a:xfrm flipV="1">
            <a:off x="90488" y="4683125"/>
            <a:ext cx="12009437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13A3C7-EC90-100B-1835-591A250902CF}"/>
              </a:ext>
            </a:extLst>
          </p:cNvPr>
          <p:cNvSpPr/>
          <p:nvPr/>
        </p:nvSpPr>
        <p:spPr>
          <a:xfrm>
            <a:off x="92075" y="4649788"/>
            <a:ext cx="12007850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F5963-3052-8888-9B32-68F2AADB5C8E}"/>
              </a:ext>
            </a:extLst>
          </p:cNvPr>
          <p:cNvSpPr/>
          <p:nvPr/>
        </p:nvSpPr>
        <p:spPr>
          <a:xfrm>
            <a:off x="92075" y="4773613"/>
            <a:ext cx="12007850" cy="4921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29D0A02F-C8DF-8A61-2FAF-E111AA327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3ABD1B-A802-47D3-B6F1-AC10BA7B9A71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7D6763AB-E18C-4E1E-A9AD-92A796630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2EA6A926-75D1-2605-A928-A7ADBD9F9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5263" y="6208713"/>
            <a:ext cx="609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518F37F-AE80-4957-978B-CD2A8821B7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2448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40FD615D-FD32-68B9-A4D1-92D09FABB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83A43-48B6-40A5-BD91-21F8C93789ED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96FF532-67CA-439F-2E30-43BD9F4C0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021E6C56-D425-2D05-3118-9981200B2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11A46-5D76-4CD9-9607-5A58F21499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694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D038663C-E330-9838-AAA9-A6112BC22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95BB8-23CA-4CD4-A218-3297E83D8CEA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9613B62-5F77-78C3-F42D-B6E5D1C4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B42D9F2E-03B5-8D04-F909-F2ACC92A9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BFF77-C8B9-4747-A861-86CA35C154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05494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A603FC3-15C1-47F8-01AF-8BD09A6074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F0139ADE-E732-9D21-68C8-53FBAF7BC2AE}"/>
              </a:ext>
            </a:extLst>
          </p:cNvPr>
          <p:cNvSpPr/>
          <p:nvPr/>
        </p:nvSpPr>
        <p:spPr>
          <a:xfrm>
            <a:off x="85725" y="69850"/>
            <a:ext cx="1201737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8" name="Title Placeholder 21">
            <a:extLst>
              <a:ext uri="{FF2B5EF4-FFF2-40B4-BE49-F238E27FC236}">
                <a16:creationId xmlns:a16="http://schemas.microsoft.com/office/drawing/2014/main" id="{96FEA7F6-AF2D-F7B1-568E-B4D66B87705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Text Placeholder 12">
            <a:extLst>
              <a:ext uri="{FF2B5EF4-FFF2-40B4-BE49-F238E27FC236}">
                <a16:creationId xmlns:a16="http://schemas.microsoft.com/office/drawing/2014/main" id="{5A68FEC9-42FC-3441-FB5D-622D0BE7A09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CF5D970-6759-D0FE-28C0-FCB7E9DC09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920950D-DA8B-41AE-BD19-BAF92EACF5ED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20C74-C1F9-0B66-3F77-D7573E91B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22C55F6-C474-2A44-B2A0-14D3BFB5D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sz="1400" smtClean="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pPr>
              <a:defRPr/>
            </a:pPr>
            <a:fld id="{31626ED4-803A-479C-93AA-547556FD90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48" r:id="rId2"/>
    <p:sldLayoutId id="2147483956" r:id="rId3"/>
    <p:sldLayoutId id="2147483949" r:id="rId4"/>
    <p:sldLayoutId id="2147483950" r:id="rId5"/>
    <p:sldLayoutId id="2147483951" r:id="rId6"/>
    <p:sldLayoutId id="2147483952" r:id="rId7"/>
    <p:sldLayoutId id="2147483957" r:id="rId8"/>
    <p:sldLayoutId id="2147483958" r:id="rId9"/>
    <p:sldLayoutId id="2147483953" r:id="rId10"/>
    <p:sldLayoutId id="214748395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12E2C7B-387F-0C3F-7B68-8E28A28EABFF}"/>
              </a:ext>
            </a:extLst>
          </p:cNvPr>
          <p:cNvSpPr txBox="1">
            <a:spLocks/>
          </p:cNvSpPr>
          <p:nvPr/>
        </p:nvSpPr>
        <p:spPr>
          <a:xfrm>
            <a:off x="1096963" y="180975"/>
            <a:ext cx="10058400" cy="6438900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lnSpc>
                <a:spcPct val="170000"/>
              </a:lnSpc>
              <a:spcAft>
                <a:spcPts val="8000"/>
              </a:spcAft>
              <a:defRPr/>
            </a:pPr>
            <a:r>
              <a:rPr sz="2400" b="1">
                <a:solidFill>
                  <a:srgbClr val="000000"/>
                </a:solidFill>
                <a:latin typeface="Times New Roman"/>
              </a:rPr>
              <a:t>A Seminar Review I Presentation on</a:t>
            </a:r>
          </a:p>
          <a:p>
            <a:pPr algn="ctr"/>
            <a:r>
              <a:rPr sz="2400" b="0">
                <a:solidFill>
                  <a:srgbClr val="000000"/>
                </a:solidFill>
                <a:latin typeface="Times New Roman"/>
              </a:rPr>
              <a:t>Submitted to Savitribai Phule Pune University</a:t>
            </a:r>
          </a:p>
          <a:p>
            <a:pPr algn="ctr"/>
            <a:r>
              <a:rPr sz="2400" b="0">
                <a:solidFill>
                  <a:srgbClr val="000000"/>
                </a:solidFill>
                <a:latin typeface="Times New Roman"/>
              </a:rPr>
              <a:t>for the partial fulfillment of Under Graduate Degree in </a:t>
            </a:r>
          </a:p>
          <a:p>
            <a:pPr algn="ctr"/>
            <a:r>
              <a:rPr sz="2400" b="1">
                <a:solidFill>
                  <a:srgbClr val="000000"/>
                </a:solidFill>
                <a:latin typeface="Times New Roman"/>
              </a:rPr>
              <a:t>Department of Information Technology</a:t>
            </a:r>
          </a:p>
          <a:p>
            <a:pPr algn="ctr"/>
            <a:r>
              <a:rPr sz="2400" b="0">
                <a:solidFill>
                  <a:srgbClr val="000000"/>
                </a:solidFill>
                <a:latin typeface="Times New Roman"/>
              </a:rPr>
              <a:t> </a:t>
            </a:r>
          </a:p>
          <a:p>
            <a:pPr algn="ctr"/>
            <a:r>
              <a:rPr sz="2400" b="0">
                <a:solidFill>
                  <a:srgbClr val="000000"/>
                </a:solidFill>
                <a:latin typeface="Times New Roman"/>
              </a:rPr>
              <a:t>Presented By</a:t>
            </a:r>
          </a:p>
          <a:p>
            <a:pPr algn="ctr"/>
            <a:r>
              <a:rPr sz="2400" b="1">
                <a:solidFill>
                  <a:srgbClr val="FF0000"/>
                </a:solidFill>
                <a:latin typeface="Times New Roman"/>
              </a:rPr>
              <a:t>Korde Ayush Sandeep | </a:t>
            </a:r>
            <a:r>
              <a:rPr sz="1500" b="1">
                <a:solidFill>
                  <a:srgbClr val="FF0000"/>
                </a:solidFill>
                <a:latin typeface="Times New Roman"/>
              </a:rPr>
              <a:t>PRN: 72406771M</a:t>
            </a:r>
          </a:p>
          <a:p>
            <a:pPr algn="ctr"/>
            <a:r>
              <a:rPr sz="2400" b="0">
                <a:solidFill>
                  <a:srgbClr val="000000"/>
                </a:solidFill>
                <a:latin typeface="Times New Roman"/>
              </a:rPr>
              <a:t> </a:t>
            </a:r>
          </a:p>
          <a:p>
            <a:pPr algn="ctr"/>
            <a:r>
              <a:rPr sz="2400" b="0">
                <a:solidFill>
                  <a:srgbClr val="000000"/>
                </a:solidFill>
                <a:latin typeface="Times New Roman"/>
              </a:rPr>
              <a:t>Guided By</a:t>
            </a:r>
          </a:p>
          <a:p>
            <a:pPr algn="ctr"/>
            <a:r>
              <a:rPr sz="2400" b="1">
                <a:solidFill>
                  <a:srgbClr val="FF0000"/>
                </a:solidFill>
                <a:latin typeface="Times New Roman"/>
              </a:rPr>
              <a:t>Prof. V. A. Khairnar</a:t>
            </a:r>
          </a:p>
          <a:p>
            <a:pPr algn="ctr"/>
            <a:r>
              <a:rPr sz="2400" b="1">
                <a:solidFill>
                  <a:srgbClr val="000000"/>
                </a:solidFill>
                <a:latin typeface="Times New Roman"/>
              </a:rPr>
              <a:t>Department of Information Technology</a:t>
            </a:r>
          </a:p>
          <a:p>
            <a:pPr algn="ctr"/>
            <a:r>
              <a:rPr sz="2400" b="1">
                <a:solidFill>
                  <a:srgbClr val="000000"/>
                </a:solidFill>
                <a:latin typeface="Times New Roman"/>
              </a:rPr>
              <a:t>PVG’s College of Engineering &amp; S. S. Dhamankar Institute of Management, Nashik</a:t>
            </a:r>
          </a:p>
          <a:p>
            <a:pPr algn="ctr"/>
            <a:r>
              <a:rPr sz="2400" b="1">
                <a:solidFill>
                  <a:srgbClr val="7030A0"/>
                </a:solidFill>
                <a:latin typeface="Times New Roman"/>
              </a:rPr>
              <a:t>Academic Year 2026 - 27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C831C1-9F2B-67A8-96BF-5F55D0A96DCD}"/>
              </a:ext>
            </a:extLst>
          </p:cNvPr>
          <p:cNvSpPr/>
          <p:nvPr/>
        </p:nvSpPr>
        <p:spPr>
          <a:xfrm>
            <a:off x="258763" y="592138"/>
            <a:ext cx="11674475" cy="9601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“Agentic AI: Autonomous Goal-Oriented Intelligent Systems for
Planning, Reasoning and Task Execution”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3623EA0F-8D0B-59EB-A253-84C589A50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013" y="3821113"/>
            <a:ext cx="3924300" cy="160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547281B-AE4F-2870-C185-674414A02EDE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1. Introduction (Motivation, Objectives, Problem Statement)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2. Related Work / Literature Survey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3. Research Gap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4. Proposed Methodology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5. Proposed Agentic AI Architecture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6. Working Flow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7. Agentic AI Algorithm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8. Implementation Details / Conceptual Prototype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9. Hardware / Software Specification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10. Evaluation Framework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11. Applications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12. Challenges and Limitations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13. Conclusion and Future Work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14. 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5F3254-B36F-0F69-8556-4EDFFD58149E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Outline</a:t>
            </a:r>
          </a:p>
        </p:txBody>
      </p:sp>
      <p:sp>
        <p:nvSpPr>
          <p:cNvPr id="9220" name="Footer Placeholder 2">
            <a:extLst>
              <a:ext uri="{FF2B5EF4-FFF2-40B4-BE49-F238E27FC236}">
                <a16:creationId xmlns:a16="http://schemas.microsoft.com/office/drawing/2014/main" id="{D433F5E5-46E4-2C32-E54B-1008D9EF6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9221" name="Slide Number Placeholder 7">
            <a:extLst>
              <a:ext uri="{FF2B5EF4-FFF2-40B4-BE49-F238E27FC236}">
                <a16:creationId xmlns:a16="http://schemas.microsoft.com/office/drawing/2014/main" id="{2212F7D3-4E16-A1C2-2230-EFD15EB7A0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52A573A-C42D-4DC2-AD85-D1428F937BCD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2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1A398B0-7A3D-9148-DCCE-FF7C2FC0736A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Agentic AI systems use an LLM (or similar reasoning engine) as a controller inside a loop that plans, retrieves knowledge, selects tools, executes actions, observes outcomes, and decides whether to continue, retry, or stop [1][2][3].</a:t>
            </a: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This distinguishes Agentic AI from conventional rule-based automation and from generative AI / standalone LLMs, which do not autonomously act across multiple steps toward a goal.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Because such systems can act on real tools and APIs, reliability, safety, and verification become central design concerns rather than optional extras.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989C5A-41FC-1875-3395-B88B566F3EFA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1. Introduction</a:t>
            </a:r>
          </a:p>
        </p:txBody>
      </p:sp>
      <p:sp>
        <p:nvSpPr>
          <p:cNvPr id="11268" name="Footer Placeholder 2">
            <a:extLst>
              <a:ext uri="{FF2B5EF4-FFF2-40B4-BE49-F238E27FC236}">
                <a16:creationId xmlns:a16="http://schemas.microsoft.com/office/drawing/2014/main" id="{8B78397D-9220-2FC6-08CC-B3B41D45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1269" name="Slide Number Placeholder 7">
            <a:extLst>
              <a:ext uri="{FF2B5EF4-FFF2-40B4-BE49-F238E27FC236}">
                <a16:creationId xmlns:a16="http://schemas.microsoft.com/office/drawing/2014/main" id="{415821BC-0639-1DD9-7512-1A0F19549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552FB58-F3F0-478E-844C-D029BD3D48F3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3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EE06BF0-C560-810D-7DC7-64C42A315445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1200"/>
              </a:spcAft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1.1 Motivation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Agents connected to real tools/APIs make unverified actions costly (wrong email, bad query, unintended purchase) — risk must be assessed before execution, not only after [6].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Planning, ReAct-style reasoning [4], memory/RAG [7], and multi-agent coordination [5] are well studied individually, but rarely packaged into one teachable, reliability-first control loop.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T.E. IT graduates will work with agent frameworks and tool-calling copilots — understanding the underlying control loop is a foundational, transferable skill.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B34058-ABD7-6A46-B8F2-24A5F2193AF6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1. Introduction</a:t>
            </a:r>
          </a:p>
        </p:txBody>
      </p:sp>
      <p:sp>
        <p:nvSpPr>
          <p:cNvPr id="13316" name="Footer Placeholder 2">
            <a:extLst>
              <a:ext uri="{FF2B5EF4-FFF2-40B4-BE49-F238E27FC236}">
                <a16:creationId xmlns:a16="http://schemas.microsoft.com/office/drawing/2014/main" id="{FEB77388-016E-D85A-5F03-50B3C7CB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3317" name="Slide Number Placeholder 7">
            <a:extLst>
              <a:ext uri="{FF2B5EF4-FFF2-40B4-BE49-F238E27FC236}">
                <a16:creationId xmlns:a16="http://schemas.microsoft.com/office/drawing/2014/main" id="{A9D3556A-5BA2-2EB5-6813-C6924E1BD3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F0B692-1FB4-40C8-B7AB-5C28257A371C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4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55552E3-E13C-3CD6-5B1F-3F882E540607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1200"/>
              </a:spcAft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1.2 Objective</a:t>
            </a:r>
            <a:endParaRPr lang="en-US" sz="24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Define Agentic AI and distinguish it from conventional AI, generative AI, and standalone LLMs.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Survey core components of the agentic loop — planning, memory/RAG, tool use, verification — grounded in verifiable literature [1]–[7].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Identify a concrete research gap in integrating capability with reliability governance.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Propose a reliability-oriented architecture separating planning from execution and pre-action risk screening from post-action verification.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Demonstrate the loop end-to-end through a small, safe prototype.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BCA0A6-1B07-0A0A-D9C5-05F1E8238E21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1. Introduction</a:t>
            </a:r>
          </a:p>
        </p:txBody>
      </p:sp>
      <p:sp>
        <p:nvSpPr>
          <p:cNvPr id="15364" name="Footer Placeholder 2">
            <a:extLst>
              <a:ext uri="{FF2B5EF4-FFF2-40B4-BE49-F238E27FC236}">
                <a16:creationId xmlns:a16="http://schemas.microsoft.com/office/drawing/2014/main" id="{7FC1FBE4-EC01-6804-81CE-A5951C25A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5365" name="Slide Number Placeholder 7">
            <a:extLst>
              <a:ext uri="{FF2B5EF4-FFF2-40B4-BE49-F238E27FC236}">
                <a16:creationId xmlns:a16="http://schemas.microsoft.com/office/drawing/2014/main" id="{0BBF2A53-A970-3A17-B2FA-4C0489E684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1A477C4-D7F6-4707-8EEE-096E5DE80EB6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5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988CB43-C1DE-ED52-5122-BCD09301DE32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1200"/>
              </a:spcAft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1.3 Problem Statement</a:t>
            </a:r>
            <a:endParaRPr lang="en-US" sz="24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Existing research treats planning, memory/retrieval, tool use, multi-agent collaboration, and security/privacy risk as largely separate concerns, addressed in isolation across different surveys and systems [1][2][3][5][6].</a:t>
            </a:r>
          </a:p>
          <a:p>
            <a:pPr>
              <a:spcAft>
                <a:spcPts val="800"/>
              </a:spcAft>
              <a:buNone/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 </a:t>
            </a:r>
          </a:p>
          <a:p>
            <a:pPr>
              <a:spcAft>
                <a:spcPts val="800"/>
              </a:spcAft>
              <a:buNone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A practical gap remains in integrating these capabilities into a minimal, teachable reference architecture that combines pre-action risk assessment, bounded human oversight, and post-action verification in one demonstrable control loop — one that a T.E.-level student can understand, diagram, and implement as a small working prototype. This seminar addresses that gap.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D3F3E3-4051-D547-A8CE-D42B5CC11CB3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1. Introduction</a:t>
            </a:r>
          </a:p>
        </p:txBody>
      </p:sp>
      <p:sp>
        <p:nvSpPr>
          <p:cNvPr id="17412" name="Footer Placeholder 2">
            <a:extLst>
              <a:ext uri="{FF2B5EF4-FFF2-40B4-BE49-F238E27FC236}">
                <a16:creationId xmlns:a16="http://schemas.microsoft.com/office/drawing/2014/main" id="{3717B5FD-5A57-5989-1D32-E50F21865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7413" name="Slide Number Placeholder 7">
            <a:extLst>
              <a:ext uri="{FF2B5EF4-FFF2-40B4-BE49-F238E27FC236}">
                <a16:creationId xmlns:a16="http://schemas.microsoft.com/office/drawing/2014/main" id="{EDF7DD65-6DF6-B944-7439-5E5C5DE87A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34F9EDF-5DD9-438E-95B9-9AAF997697AB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6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45E27B-479D-EB66-CA0B-15890A03E3F8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2. Related Work / Literature Survey</a:t>
            </a:r>
          </a:p>
        </p:txBody>
      </p:sp>
      <p:sp>
        <p:nvSpPr>
          <p:cNvPr id="19460" name="Footer Placeholder 2">
            <a:extLst>
              <a:ext uri="{FF2B5EF4-FFF2-40B4-BE49-F238E27FC236}">
                <a16:creationId xmlns:a16="http://schemas.microsoft.com/office/drawing/2014/main" id="{9E13AC0A-3A1F-ECC6-FCD3-21DEB1952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9461" name="Slide Number Placeholder 7">
            <a:extLst>
              <a:ext uri="{FF2B5EF4-FFF2-40B4-BE49-F238E27FC236}">
                <a16:creationId xmlns:a16="http://schemas.microsoft.com/office/drawing/2014/main" id="{89E5F518-B0BB-B152-8CA9-D841322CC0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E85DAF8-B138-4B6D-B2FC-6FB56B4647A0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7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19462" name="Table 19461"/>
          <p:cNvGraphicFramePr>
            <a:graphicFrameLocks noGrp="1"/>
          </p:cNvGraphicFramePr>
          <p:nvPr/>
        </p:nvGraphicFramePr>
        <p:xfrm>
          <a:off x="320040" y="1188720"/>
          <a:ext cx="115214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28800"/>
                <a:gridCol w="1737360"/>
                <a:gridCol w="4206240"/>
                <a:gridCol w="320040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Ref</a:t>
                      </a:r>
                    </a:p>
                  </a:txBody>
                  <a:tcPr marT="45720" marB="45720">
                    <a:solidFill>
                      <a:srgbClr val="D348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Author, Year</a:t>
                      </a:r>
                    </a:p>
                  </a:txBody>
                  <a:tcPr marT="45720" marB="45720">
                    <a:solidFill>
                      <a:srgbClr val="D348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Venue</a:t>
                      </a:r>
                    </a:p>
                  </a:txBody>
                  <a:tcPr marT="45720" marB="45720">
                    <a:solidFill>
                      <a:srgbClr val="D348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Contribution</a:t>
                      </a:r>
                    </a:p>
                  </a:txBody>
                  <a:tcPr marT="45720" marB="45720">
                    <a:solidFill>
                      <a:srgbClr val="D348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Relevance / Limitation</a:t>
                      </a:r>
                    </a:p>
                  </a:txBody>
                  <a:tcPr marT="45720" marB="45720">
                    <a:solidFill>
                      <a:srgbClr val="D3481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[1]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Acharya et al., 2025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IEEE Access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Comprehensive survey defining Agentic AI &amp; its methodologies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Broad framing; no concrete reliability loop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[2]</a:t>
                      </a:r>
                    </a:p>
                  </a:txBody>
                  <a:tcPr marT="45720" marB="45720">
                    <a:solidFill>
                      <a:srgbClr val="F2C9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Dong et al., 2024</a:t>
                      </a:r>
                    </a:p>
                  </a:txBody>
                  <a:tcPr marT="45720" marB="45720">
                    <a:solidFill>
                      <a:srgbClr val="F2C9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IEEE AIoTC Conf.</a:t>
                      </a:r>
                    </a:p>
                  </a:txBody>
                  <a:tcPr marT="45720" marB="45720">
                    <a:solidFill>
                      <a:srgbClr val="F2C9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LLM as controller over perception, memory, planning, action</a:t>
                      </a:r>
                    </a:p>
                  </a:txBody>
                  <a:tcPr marT="45720" marB="45720">
                    <a:solidFill>
                      <a:srgbClr val="F2C9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Limited treatment of pre-action safety</a:t>
                      </a:r>
                    </a:p>
                  </a:txBody>
                  <a:tcPr marT="45720" marB="45720">
                    <a:solidFill>
                      <a:srgbClr val="F2C9B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[3]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Wang et al., 2024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Frontiers Comp. Sci.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Unified construction framework for LLM autonomous agents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Verification/oversight not a central axis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[4]</a:t>
                      </a:r>
                    </a:p>
                  </a:txBody>
                  <a:tcPr marT="45720" marB="45720">
                    <a:solidFill>
                      <a:srgbClr val="F2C9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Yao et al., 2023</a:t>
                      </a:r>
                    </a:p>
                  </a:txBody>
                  <a:tcPr marT="45720" marB="45720">
                    <a:solidFill>
                      <a:srgbClr val="F2C9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ICLR</a:t>
                      </a:r>
                    </a:p>
                  </a:txBody>
                  <a:tcPr marT="45720" marB="45720">
                    <a:solidFill>
                      <a:srgbClr val="F2C9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ReAct: interleaves reasoning traces with actions</a:t>
                      </a:r>
                    </a:p>
                  </a:txBody>
                  <a:tcPr marT="45720" marB="45720">
                    <a:solidFill>
                      <a:srgbClr val="F2C9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No built-in risk gating</a:t>
                      </a:r>
                    </a:p>
                  </a:txBody>
                  <a:tcPr marT="45720" marB="45720">
                    <a:solidFill>
                      <a:srgbClr val="F2C9B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itle 1">
            <a:extLst>
              <a:ext uri="{FF2B5EF4-FFF2-40B4-BE49-F238E27FC236}">
                <a16:creationId xmlns:a16="http://schemas.microsoft.com/office/drawing/2014/main" id="{D1A398B0-7A3D-9148-DCCE-FF7C2FC0736A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Existing research addresses planning, memory, retrieval, tool use, multi-agent collaboration, and security/privacy risk as individual, separately-studied components [1]–[3][5][6].</a:t>
            </a: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Reliable integration of these capabilities with an explicit pre-action risk gate, bounded human oversight, and post-action verification — inside one demonstrable control loop — remains an open, under-addressed design and evaluation challenge.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This seminar targets that integration gap directly, rather than proposing a new individual capability.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989C5A-41FC-1875-3395-B88B566F3EFA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3. Research Gap</a:t>
            </a:r>
          </a:p>
        </p:txBody>
      </p:sp>
      <p:sp>
        <p:nvSpPr>
          <p:cNvPr id="11268" name="Footer Placeholder 2">
            <a:extLst>
              <a:ext uri="{FF2B5EF4-FFF2-40B4-BE49-F238E27FC236}">
                <a16:creationId xmlns:a16="http://schemas.microsoft.com/office/drawing/2014/main" id="{8B78397D-9220-2FC6-08CC-B3B41D45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1269" name="Slide Number Placeholder 7">
            <a:extLst>
              <a:ext uri="{FF2B5EF4-FFF2-40B4-BE49-F238E27FC236}">
                <a16:creationId xmlns:a16="http://schemas.microsoft.com/office/drawing/2014/main" id="{415821BC-0639-1DD9-7512-1A0F19549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552FB58-F3F0-478E-844C-D029BD3D48F3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3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1E559EE-0C55-2F68-96CD-21EB0C5ACC40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>
              <a:spcAft>
                <a:spcPts val="1200"/>
              </a:spcAft>
              <a:buNone/>
              <a:defRPr/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4.1 Approach Summary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Goal Understanding: interpret user intent and constraints from the stated goal.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Task Decomposition &amp; Planning: break the goal into ordered subtasks; select the next action using a ReAct-style reasoning–acting loop [4].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Knowledge Grounding: retrieve relevant context via Memory + RAG before each action [7].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Pre-Action Risk Gate: classify each action's risk; require human approval for high-risk actions before they execute [6].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Post-Action Verification: observe the result, verify it against the expected outcome, and replan/retry within a bounded MAX_RETRIES before escalating.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F73D1F-CD7C-EF2E-BB3F-A82DDE5CF58C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4. Proposed Methodology</a:t>
            </a:r>
          </a:p>
        </p:txBody>
      </p:sp>
      <p:sp>
        <p:nvSpPr>
          <p:cNvPr id="21508" name="Footer Placeholder 2">
            <a:extLst>
              <a:ext uri="{FF2B5EF4-FFF2-40B4-BE49-F238E27FC236}">
                <a16:creationId xmlns:a16="http://schemas.microsoft.com/office/drawing/2014/main" id="{74E2C006-4A33-3C8A-CEE3-7E2C89165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21509" name="Slide Number Placeholder 7">
            <a:extLst>
              <a:ext uri="{FF2B5EF4-FFF2-40B4-BE49-F238E27FC236}">
                <a16:creationId xmlns:a16="http://schemas.microsoft.com/office/drawing/2014/main" id="{E464C61E-E166-4505-2688-6CB3FFE0D4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86843C-A890-4555-AB31-A6640F9823E0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8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76F73D1F-CD7C-EF2E-BB3F-A82DDE5CF58C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5. Proposed Agentic AI Architecture</a:t>
            </a:r>
          </a:p>
        </p:txBody>
      </p:sp>
      <p:sp>
        <p:nvSpPr>
          <p:cNvPr id="21508" name="Footer Placeholder 2">
            <a:extLst>
              <a:ext uri="{FF2B5EF4-FFF2-40B4-BE49-F238E27FC236}">
                <a16:creationId xmlns:a16="http://schemas.microsoft.com/office/drawing/2014/main" id="{74E2C006-4A33-3C8A-CEE3-7E2C89165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21509" name="Slide Number Placeholder 7">
            <a:extLst>
              <a:ext uri="{FF2B5EF4-FFF2-40B4-BE49-F238E27FC236}">
                <a16:creationId xmlns:a16="http://schemas.microsoft.com/office/drawing/2014/main" id="{E464C61E-E166-4505-2688-6CB3FFE0D4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86843C-A890-4555-AB31-A6640F9823E0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8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1510" name="Rectangle 21509"/>
          <p:cNvSpPr/>
          <p:nvPr/>
        </p:nvSpPr>
        <p:spPr>
          <a:xfrm>
            <a:off x="2240279" y="960120"/>
            <a:ext cx="969264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11" name="TextBox 21510"/>
          <p:cNvSpPr txBox="1"/>
          <p:nvPr/>
        </p:nvSpPr>
        <p:spPr>
          <a:xfrm>
            <a:off x="228600" y="960120"/>
            <a:ext cx="19659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0000"/>
                </a:solidFill>
                <a:latin typeface="Arial Narrow"/>
              </a:rPr>
              <a:t>INPUT</a:t>
            </a:r>
          </a:p>
        </p:txBody>
      </p:sp>
      <p:sp>
        <p:nvSpPr>
          <p:cNvPr id="21512" name="Rectangle 21511"/>
          <p:cNvSpPr/>
          <p:nvPr/>
        </p:nvSpPr>
        <p:spPr>
          <a:xfrm>
            <a:off x="2331720" y="1069848"/>
            <a:ext cx="8686800" cy="713232"/>
          </a:xfrm>
          <a:prstGeom prst="rect">
            <a:avLst/>
          </a:prstGeom>
          <a:solidFill>
            <a:srgbClr val="E9E5DC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User Goal</a:t>
            </a:r>
          </a:p>
        </p:txBody>
      </p:sp>
      <p:sp>
        <p:nvSpPr>
          <p:cNvPr id="21513" name="Rectangle 21512"/>
          <p:cNvSpPr/>
          <p:nvPr/>
        </p:nvSpPr>
        <p:spPr>
          <a:xfrm>
            <a:off x="2240279" y="2002536"/>
            <a:ext cx="969264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14" name="TextBox 21513"/>
          <p:cNvSpPr txBox="1"/>
          <p:nvPr/>
        </p:nvSpPr>
        <p:spPr>
          <a:xfrm>
            <a:off x="228600" y="2002536"/>
            <a:ext cx="19659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0000"/>
                </a:solidFill>
                <a:latin typeface="Arial Narrow"/>
              </a:rPr>
              <a:t>PLANNING &amp;
REASONING</a:t>
            </a:r>
          </a:p>
        </p:txBody>
      </p:sp>
      <p:sp>
        <p:nvSpPr>
          <p:cNvPr id="21515" name="Rectangle 21514"/>
          <p:cNvSpPr/>
          <p:nvPr/>
        </p:nvSpPr>
        <p:spPr>
          <a:xfrm>
            <a:off x="2331720" y="2112264"/>
            <a:ext cx="914400" cy="713232"/>
          </a:xfrm>
          <a:prstGeom prst="rect">
            <a:avLst/>
          </a:prstGeom>
          <a:solidFill>
            <a:srgbClr val="F2C9B6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Goal Analyzer</a:t>
            </a:r>
          </a:p>
        </p:txBody>
      </p:sp>
      <p:sp>
        <p:nvSpPr>
          <p:cNvPr id="21516" name="Rectangle 21515"/>
          <p:cNvSpPr/>
          <p:nvPr/>
        </p:nvSpPr>
        <p:spPr>
          <a:xfrm>
            <a:off x="3429000" y="2112264"/>
            <a:ext cx="1463039" cy="713232"/>
          </a:xfrm>
          <a:prstGeom prst="rect">
            <a:avLst/>
          </a:prstGeom>
          <a:solidFill>
            <a:srgbClr val="F2C9B6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Reasoning Engine
(LLM) [4]</a:t>
            </a:r>
          </a:p>
        </p:txBody>
      </p:sp>
      <p:sp>
        <p:nvSpPr>
          <p:cNvPr id="21517" name="Rectangle 21516"/>
          <p:cNvSpPr/>
          <p:nvPr/>
        </p:nvSpPr>
        <p:spPr>
          <a:xfrm>
            <a:off x="5074920" y="2112264"/>
            <a:ext cx="1828800" cy="713232"/>
          </a:xfrm>
          <a:prstGeom prst="rect">
            <a:avLst/>
          </a:prstGeom>
          <a:solidFill>
            <a:srgbClr val="F2C9B6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Task Decomposition</a:t>
            </a:r>
          </a:p>
        </p:txBody>
      </p:sp>
      <p:sp>
        <p:nvSpPr>
          <p:cNvPr id="21518" name="Rectangle 21517"/>
          <p:cNvSpPr/>
          <p:nvPr/>
        </p:nvSpPr>
        <p:spPr>
          <a:xfrm>
            <a:off x="7086600" y="2112264"/>
            <a:ext cx="1280160" cy="713232"/>
          </a:xfrm>
          <a:prstGeom prst="rect">
            <a:avLst/>
          </a:prstGeom>
          <a:solidFill>
            <a:srgbClr val="F2C9B6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Planner</a:t>
            </a:r>
          </a:p>
        </p:txBody>
      </p:sp>
      <p:sp>
        <p:nvSpPr>
          <p:cNvPr id="21519" name="Rectangle 21518"/>
          <p:cNvSpPr/>
          <p:nvPr/>
        </p:nvSpPr>
        <p:spPr>
          <a:xfrm>
            <a:off x="2240279" y="3044952"/>
            <a:ext cx="969264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20" name="TextBox 21519"/>
          <p:cNvSpPr txBox="1"/>
          <p:nvPr/>
        </p:nvSpPr>
        <p:spPr>
          <a:xfrm>
            <a:off x="228600" y="3044952"/>
            <a:ext cx="19659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0000"/>
                </a:solidFill>
                <a:latin typeface="Arial Narrow"/>
              </a:rPr>
              <a:t>KNOWLEDGE &amp;
TOOLS</a:t>
            </a:r>
          </a:p>
        </p:txBody>
      </p:sp>
      <p:sp>
        <p:nvSpPr>
          <p:cNvPr id="21521" name="Rectangle 21520"/>
          <p:cNvSpPr/>
          <p:nvPr/>
        </p:nvSpPr>
        <p:spPr>
          <a:xfrm>
            <a:off x="2331720" y="3154680"/>
            <a:ext cx="2743200" cy="713232"/>
          </a:xfrm>
          <a:prstGeom prst="rect">
            <a:avLst/>
          </a:prstGeom>
          <a:solidFill>
            <a:srgbClr val="E9E5DC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Memory + RAG [7]</a:t>
            </a:r>
          </a:p>
        </p:txBody>
      </p:sp>
      <p:sp>
        <p:nvSpPr>
          <p:cNvPr id="21522" name="Rectangle 21521"/>
          <p:cNvSpPr/>
          <p:nvPr/>
        </p:nvSpPr>
        <p:spPr>
          <a:xfrm>
            <a:off x="5257800" y="3154680"/>
            <a:ext cx="3108960" cy="713232"/>
          </a:xfrm>
          <a:prstGeom prst="rect">
            <a:avLst/>
          </a:prstGeom>
          <a:solidFill>
            <a:srgbClr val="E9E5DC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Tool / API Manager</a:t>
            </a:r>
          </a:p>
        </p:txBody>
      </p:sp>
      <p:sp>
        <p:nvSpPr>
          <p:cNvPr id="21523" name="Rectangle 21522"/>
          <p:cNvSpPr/>
          <p:nvPr/>
        </p:nvSpPr>
        <p:spPr>
          <a:xfrm>
            <a:off x="2240279" y="4087368"/>
            <a:ext cx="969264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24" name="TextBox 21523"/>
          <p:cNvSpPr txBox="1"/>
          <p:nvPr/>
        </p:nvSpPr>
        <p:spPr>
          <a:xfrm>
            <a:off x="228600" y="4087368"/>
            <a:ext cx="19659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0000"/>
                </a:solidFill>
                <a:latin typeface="Arial Narrow"/>
              </a:rPr>
              <a:t>SAFETY &amp;
OVERSIGHT</a:t>
            </a:r>
          </a:p>
        </p:txBody>
      </p:sp>
      <p:sp>
        <p:nvSpPr>
          <p:cNvPr id="21525" name="Rectangle 21524"/>
          <p:cNvSpPr/>
          <p:nvPr/>
        </p:nvSpPr>
        <p:spPr>
          <a:xfrm>
            <a:off x="2331720" y="4197096"/>
            <a:ext cx="3657600" cy="713232"/>
          </a:xfrm>
          <a:prstGeom prst="rect">
            <a:avLst/>
          </a:prstGeom>
          <a:solidFill>
            <a:srgbClr val="E3B6AE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Risk &amp; Permission Gate</a:t>
            </a:r>
          </a:p>
        </p:txBody>
      </p:sp>
      <p:sp>
        <p:nvSpPr>
          <p:cNvPr id="21526" name="Rectangle 21525"/>
          <p:cNvSpPr/>
          <p:nvPr/>
        </p:nvSpPr>
        <p:spPr>
          <a:xfrm>
            <a:off x="6172200" y="4197096"/>
            <a:ext cx="3017520" cy="713232"/>
          </a:xfrm>
          <a:prstGeom prst="rect">
            <a:avLst/>
          </a:prstGeom>
          <a:solidFill>
            <a:srgbClr val="E3B6AE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Human Approval
(high-risk only) [6]</a:t>
            </a:r>
          </a:p>
        </p:txBody>
      </p:sp>
      <p:sp>
        <p:nvSpPr>
          <p:cNvPr id="21527" name="Rectangle 21526"/>
          <p:cNvSpPr/>
          <p:nvPr/>
        </p:nvSpPr>
        <p:spPr>
          <a:xfrm>
            <a:off x="2240279" y="5129784"/>
            <a:ext cx="969264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28" name="TextBox 21527"/>
          <p:cNvSpPr txBox="1"/>
          <p:nvPr/>
        </p:nvSpPr>
        <p:spPr>
          <a:xfrm>
            <a:off x="228600" y="5129784"/>
            <a:ext cx="19659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0000"/>
                </a:solidFill>
                <a:latin typeface="Arial Narrow"/>
              </a:rPr>
              <a:t>EXECUTION &amp;
VERIFICATION</a:t>
            </a:r>
          </a:p>
        </p:txBody>
      </p:sp>
      <p:sp>
        <p:nvSpPr>
          <p:cNvPr id="21529" name="Rectangle 21528"/>
          <p:cNvSpPr/>
          <p:nvPr/>
        </p:nvSpPr>
        <p:spPr>
          <a:xfrm>
            <a:off x="2331720" y="5239512"/>
            <a:ext cx="1828800" cy="713232"/>
          </a:xfrm>
          <a:prstGeom prst="rect">
            <a:avLst/>
          </a:prstGeom>
          <a:solidFill>
            <a:srgbClr val="DDC9C0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Execution</a:t>
            </a:r>
          </a:p>
        </p:txBody>
      </p:sp>
      <p:sp>
        <p:nvSpPr>
          <p:cNvPr id="21530" name="Rectangle 21529"/>
          <p:cNvSpPr/>
          <p:nvPr/>
        </p:nvSpPr>
        <p:spPr>
          <a:xfrm>
            <a:off x="4343400" y="5239512"/>
            <a:ext cx="1828800" cy="713232"/>
          </a:xfrm>
          <a:prstGeom prst="rect">
            <a:avLst/>
          </a:prstGeom>
          <a:solidFill>
            <a:srgbClr val="DDC9C0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Observation</a:t>
            </a:r>
          </a:p>
        </p:txBody>
      </p:sp>
      <p:sp>
        <p:nvSpPr>
          <p:cNvPr id="21531" name="Rectangle 21530"/>
          <p:cNvSpPr/>
          <p:nvPr/>
        </p:nvSpPr>
        <p:spPr>
          <a:xfrm>
            <a:off x="6355080" y="5239512"/>
            <a:ext cx="1828799" cy="713232"/>
          </a:xfrm>
          <a:prstGeom prst="rect">
            <a:avLst/>
          </a:prstGeom>
          <a:solidFill>
            <a:srgbClr val="DDC9C0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Verification</a:t>
            </a:r>
          </a:p>
        </p:txBody>
      </p:sp>
      <p:sp>
        <p:nvSpPr>
          <p:cNvPr id="21532" name="Rectangle 21531"/>
          <p:cNvSpPr/>
          <p:nvPr/>
        </p:nvSpPr>
        <p:spPr>
          <a:xfrm>
            <a:off x="8366760" y="5239512"/>
            <a:ext cx="2286000" cy="713232"/>
          </a:xfrm>
          <a:prstGeom prst="rect">
            <a:avLst/>
          </a:prstGeom>
          <a:solidFill>
            <a:srgbClr val="DDC9C0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</a:rPr>
              <a:t>Replanning /
Retry (bounded)</a:t>
            </a:r>
          </a:p>
        </p:txBody>
      </p:sp>
      <p:cxnSp>
        <p:nvCxnSpPr>
          <p:cNvPr id="21533" name="Connector 21532"/>
          <p:cNvCxnSpPr/>
          <p:nvPr/>
        </p:nvCxnSpPr>
        <p:spPr>
          <a:xfrm>
            <a:off x="7132320" y="1892808"/>
            <a:ext cx="0" cy="109728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34" name="Connector 21533"/>
          <p:cNvCxnSpPr/>
          <p:nvPr/>
        </p:nvCxnSpPr>
        <p:spPr>
          <a:xfrm>
            <a:off x="7132320" y="2935224"/>
            <a:ext cx="0" cy="109728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35" name="Connector 21534"/>
          <p:cNvCxnSpPr/>
          <p:nvPr/>
        </p:nvCxnSpPr>
        <p:spPr>
          <a:xfrm>
            <a:off x="7132320" y="3977639"/>
            <a:ext cx="0" cy="109729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36" name="Connector 21535"/>
          <p:cNvCxnSpPr/>
          <p:nvPr/>
        </p:nvCxnSpPr>
        <p:spPr>
          <a:xfrm>
            <a:off x="7132320" y="5020056"/>
            <a:ext cx="0" cy="109728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38" name="TextBox 21537"/>
          <p:cNvSpPr txBox="1"/>
          <p:nvPr/>
        </p:nvSpPr>
        <p:spPr>
          <a:xfrm>
            <a:off x="2331720" y="619048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9B2D1F"/>
                </a:solidFill>
                <a:latin typeface="Times New Roman"/>
              </a:rPr>
              <a:t>Final Result → aggregated, verified outputs returned to the user</a:t>
            </a:r>
          </a:p>
        </p:txBody>
      </p:sp>
      <p:sp>
        <p:nvSpPr>
          <p:cNvPr id="21539" name="TextBox 21538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Figure 5.1: Proposed layered Agentic AI architecture. Source: Author's proposed architecture, synthesized from [1], [2], [4], [7] and the risk taxonomy in [6].</a:t>
            </a:r>
          </a:p>
        </p:txBody>
      </p:sp>
      <p:cxnSp>
        <p:nvCxnSpPr>
          <p:cNvPr id="21540" name="Connector 21539"/>
          <p:cNvCxnSpPr/>
          <p:nvPr/>
        </p:nvCxnSpPr>
        <p:spPr>
          <a:xfrm>
            <a:off x="10652760" y="5596128"/>
            <a:ext cx="1188720" cy="0"/>
          </a:xfrm>
          <a:prstGeom prst="line">
            <a:avLst/>
          </a:prstGeom>
          <a:ln w="22225">
            <a:solidFill>
              <a:srgbClr val="9B2D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41" name="Connector 21540"/>
          <p:cNvCxnSpPr/>
          <p:nvPr/>
        </p:nvCxnSpPr>
        <p:spPr>
          <a:xfrm flipV="1">
            <a:off x="11841480" y="2468880"/>
            <a:ext cx="0" cy="3127248"/>
          </a:xfrm>
          <a:prstGeom prst="line">
            <a:avLst/>
          </a:prstGeom>
          <a:ln w="22225">
            <a:solidFill>
              <a:srgbClr val="9B2D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42" name="Connector 21541"/>
          <p:cNvCxnSpPr/>
          <p:nvPr/>
        </p:nvCxnSpPr>
        <p:spPr>
          <a:xfrm flipH="1">
            <a:off x="8366760" y="2468880"/>
            <a:ext cx="3474720" cy="0"/>
          </a:xfrm>
          <a:prstGeom prst="line">
            <a:avLst/>
          </a:prstGeom>
          <a:ln w="22225">
            <a:solidFill>
              <a:srgbClr val="9B2D1F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76F73D1F-CD7C-EF2E-BB3F-A82DDE5CF58C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6. Working Flow</a:t>
            </a:r>
          </a:p>
        </p:txBody>
      </p:sp>
      <p:sp>
        <p:nvSpPr>
          <p:cNvPr id="21508" name="Footer Placeholder 2">
            <a:extLst>
              <a:ext uri="{FF2B5EF4-FFF2-40B4-BE49-F238E27FC236}">
                <a16:creationId xmlns:a16="http://schemas.microsoft.com/office/drawing/2014/main" id="{74E2C006-4A33-3C8A-CEE3-7E2C89165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21509" name="Slide Number Placeholder 7">
            <a:extLst>
              <a:ext uri="{FF2B5EF4-FFF2-40B4-BE49-F238E27FC236}">
                <a16:creationId xmlns:a16="http://schemas.microsoft.com/office/drawing/2014/main" id="{E464C61E-E166-4505-2688-6CB3FFE0D4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86843C-A890-4555-AB31-A6640F9823E0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8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1510" name="Rectangle 21509"/>
          <p:cNvSpPr/>
          <p:nvPr/>
        </p:nvSpPr>
        <p:spPr>
          <a:xfrm>
            <a:off x="822960" y="896112"/>
            <a:ext cx="5120640" cy="329184"/>
          </a:xfrm>
          <a:prstGeom prst="rect">
            <a:avLst/>
          </a:prstGeom>
          <a:solidFill>
            <a:srgbClr val="E9E5DC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User Goal</a:t>
            </a:r>
          </a:p>
        </p:txBody>
      </p:sp>
      <p:sp>
        <p:nvSpPr>
          <p:cNvPr id="21511" name="Rectangle 21510"/>
          <p:cNvSpPr/>
          <p:nvPr/>
        </p:nvSpPr>
        <p:spPr>
          <a:xfrm>
            <a:off x="822960" y="1293876"/>
            <a:ext cx="5120640" cy="329184"/>
          </a:xfrm>
          <a:prstGeom prst="rect">
            <a:avLst/>
          </a:prstGeom>
          <a:solidFill>
            <a:srgbClr val="F2C9B6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Understand &amp; Decompose Goal</a:t>
            </a:r>
          </a:p>
        </p:txBody>
      </p:sp>
      <p:sp>
        <p:nvSpPr>
          <p:cNvPr id="21512" name="Rectangle 21511"/>
          <p:cNvSpPr/>
          <p:nvPr/>
        </p:nvSpPr>
        <p:spPr>
          <a:xfrm>
            <a:off x="822960" y="1691640"/>
            <a:ext cx="5120640" cy="329184"/>
          </a:xfrm>
          <a:prstGeom prst="rect">
            <a:avLst/>
          </a:prstGeom>
          <a:solidFill>
            <a:srgbClr val="F2C9B6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Generate / Update Plan</a:t>
            </a:r>
          </a:p>
        </p:txBody>
      </p:sp>
      <p:sp>
        <p:nvSpPr>
          <p:cNvPr id="21513" name="Rectangle 21512"/>
          <p:cNvSpPr/>
          <p:nvPr/>
        </p:nvSpPr>
        <p:spPr>
          <a:xfrm>
            <a:off x="822960" y="2089404"/>
            <a:ext cx="5120640" cy="329184"/>
          </a:xfrm>
          <a:prstGeom prst="rect">
            <a:avLst/>
          </a:prstGeom>
          <a:solidFill>
            <a:srgbClr val="E9E5DC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Retrieve Context (Memory + RAG) [7]</a:t>
            </a:r>
          </a:p>
        </p:txBody>
      </p:sp>
      <p:sp>
        <p:nvSpPr>
          <p:cNvPr id="21514" name="Rectangle 21513"/>
          <p:cNvSpPr/>
          <p:nvPr/>
        </p:nvSpPr>
        <p:spPr>
          <a:xfrm>
            <a:off x="822960" y="2487168"/>
            <a:ext cx="5120640" cy="329184"/>
          </a:xfrm>
          <a:prstGeom prst="rect">
            <a:avLst/>
          </a:prstGeom>
          <a:solidFill>
            <a:srgbClr val="E9E5DC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Select Tool</a:t>
            </a:r>
          </a:p>
        </p:txBody>
      </p:sp>
      <p:sp>
        <p:nvSpPr>
          <p:cNvPr id="21515" name="Rectangle 21514"/>
          <p:cNvSpPr/>
          <p:nvPr/>
        </p:nvSpPr>
        <p:spPr>
          <a:xfrm>
            <a:off x="822960" y="2884932"/>
            <a:ext cx="5120640" cy="329184"/>
          </a:xfrm>
          <a:prstGeom prst="rect">
            <a:avLst/>
          </a:prstGeom>
          <a:solidFill>
            <a:srgbClr val="E3B6AE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Assess Risk</a:t>
            </a:r>
          </a:p>
        </p:txBody>
      </p:sp>
      <p:sp>
        <p:nvSpPr>
          <p:cNvPr id="21516" name="Diamond 21515"/>
          <p:cNvSpPr/>
          <p:nvPr/>
        </p:nvSpPr>
        <p:spPr>
          <a:xfrm>
            <a:off x="2057400" y="3227832"/>
            <a:ext cx="2651760" cy="475488"/>
          </a:xfrm>
          <a:prstGeom prst="diamond">
            <a:avLst/>
          </a:prstGeom>
          <a:solidFill>
            <a:srgbClr val="E3B6AE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950" b="1">
                <a:solidFill>
                  <a:srgbClr val="000000"/>
                </a:solidFill>
                <a:latin typeface="Times New Roman"/>
              </a:rPr>
              <a:t>Risk = HIGH?</a:t>
            </a:r>
          </a:p>
        </p:txBody>
      </p:sp>
      <p:sp>
        <p:nvSpPr>
          <p:cNvPr id="21517" name="Rectangle 21516"/>
          <p:cNvSpPr/>
          <p:nvPr/>
        </p:nvSpPr>
        <p:spPr>
          <a:xfrm>
            <a:off x="822960" y="3680460"/>
            <a:ext cx="5120640" cy="329184"/>
          </a:xfrm>
          <a:prstGeom prst="rect">
            <a:avLst/>
          </a:prstGeom>
          <a:solidFill>
            <a:srgbClr val="DDC9C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Execute Action</a:t>
            </a:r>
          </a:p>
        </p:txBody>
      </p:sp>
      <p:sp>
        <p:nvSpPr>
          <p:cNvPr id="21518" name="Rectangle 21517"/>
          <p:cNvSpPr/>
          <p:nvPr/>
        </p:nvSpPr>
        <p:spPr>
          <a:xfrm>
            <a:off x="822960" y="4078224"/>
            <a:ext cx="5120640" cy="329184"/>
          </a:xfrm>
          <a:prstGeom prst="rect">
            <a:avLst/>
          </a:prstGeom>
          <a:solidFill>
            <a:srgbClr val="DDC9C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Observe Result</a:t>
            </a:r>
          </a:p>
        </p:txBody>
      </p:sp>
      <p:sp>
        <p:nvSpPr>
          <p:cNvPr id="21519" name="Rectangle 21518"/>
          <p:cNvSpPr/>
          <p:nvPr/>
        </p:nvSpPr>
        <p:spPr>
          <a:xfrm>
            <a:off x="822960" y="4475988"/>
            <a:ext cx="5120640" cy="329184"/>
          </a:xfrm>
          <a:prstGeom prst="rect">
            <a:avLst/>
          </a:prstGeom>
          <a:solidFill>
            <a:srgbClr val="DDC9C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Verify Result</a:t>
            </a:r>
          </a:p>
        </p:txBody>
      </p:sp>
      <p:sp>
        <p:nvSpPr>
          <p:cNvPr id="21520" name="Diamond 21519"/>
          <p:cNvSpPr/>
          <p:nvPr/>
        </p:nvSpPr>
        <p:spPr>
          <a:xfrm>
            <a:off x="2057400" y="4818888"/>
            <a:ext cx="2651760" cy="475488"/>
          </a:xfrm>
          <a:prstGeom prst="diamond">
            <a:avLst/>
          </a:prstGeom>
          <a:solidFill>
            <a:srgbClr val="DDC9C0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950" b="1">
                <a:solidFill>
                  <a:srgbClr val="000000"/>
                </a:solidFill>
                <a:latin typeface="Times New Roman"/>
              </a:rPr>
              <a:t>Verified?</a:t>
            </a:r>
          </a:p>
        </p:txBody>
      </p:sp>
      <p:sp>
        <p:nvSpPr>
          <p:cNvPr id="21521" name="Rectangle 21520"/>
          <p:cNvSpPr/>
          <p:nvPr/>
        </p:nvSpPr>
        <p:spPr>
          <a:xfrm>
            <a:off x="822960" y="5271516"/>
            <a:ext cx="5120640" cy="329184"/>
          </a:xfrm>
          <a:prstGeom prst="rect">
            <a:avLst/>
          </a:prstGeom>
          <a:solidFill>
            <a:srgbClr val="E9E5DC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Aggregate Verified Outputs</a:t>
            </a:r>
          </a:p>
        </p:txBody>
      </p:sp>
      <p:sp>
        <p:nvSpPr>
          <p:cNvPr id="21522" name="Rectangle 21521"/>
          <p:cNvSpPr/>
          <p:nvPr/>
        </p:nvSpPr>
        <p:spPr>
          <a:xfrm>
            <a:off x="822960" y="5669279"/>
            <a:ext cx="5120640" cy="329184"/>
          </a:xfrm>
          <a:prstGeom prst="rect">
            <a:avLst/>
          </a:prstGeom>
          <a:solidFill>
            <a:srgbClr val="F2C9B6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Final Result</a:t>
            </a:r>
          </a:p>
        </p:txBody>
      </p:sp>
      <p:cxnSp>
        <p:nvCxnSpPr>
          <p:cNvPr id="21523" name="Connector 21522"/>
          <p:cNvCxnSpPr/>
          <p:nvPr/>
        </p:nvCxnSpPr>
        <p:spPr>
          <a:xfrm>
            <a:off x="3383279" y="1225295"/>
            <a:ext cx="0" cy="6858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24" name="Connector 21523"/>
          <p:cNvCxnSpPr/>
          <p:nvPr/>
        </p:nvCxnSpPr>
        <p:spPr>
          <a:xfrm>
            <a:off x="3383279" y="1623060"/>
            <a:ext cx="0" cy="685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25" name="Connector 21524"/>
          <p:cNvCxnSpPr/>
          <p:nvPr/>
        </p:nvCxnSpPr>
        <p:spPr>
          <a:xfrm>
            <a:off x="3383279" y="2020824"/>
            <a:ext cx="0" cy="685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26" name="Connector 21525"/>
          <p:cNvCxnSpPr/>
          <p:nvPr/>
        </p:nvCxnSpPr>
        <p:spPr>
          <a:xfrm>
            <a:off x="3383279" y="2418588"/>
            <a:ext cx="0" cy="685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27" name="Connector 21526"/>
          <p:cNvCxnSpPr/>
          <p:nvPr/>
        </p:nvCxnSpPr>
        <p:spPr>
          <a:xfrm>
            <a:off x="3383279" y="2816351"/>
            <a:ext cx="0" cy="6858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28" name="Connector 21527"/>
          <p:cNvCxnSpPr/>
          <p:nvPr/>
        </p:nvCxnSpPr>
        <p:spPr>
          <a:xfrm>
            <a:off x="3383279" y="3214115"/>
            <a:ext cx="1" cy="13717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29" name="Connector 21528"/>
          <p:cNvCxnSpPr/>
          <p:nvPr/>
        </p:nvCxnSpPr>
        <p:spPr>
          <a:xfrm flipH="1" flipV="1">
            <a:off x="3383279" y="3680460"/>
            <a:ext cx="1" cy="228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30" name="Connector 21529"/>
          <p:cNvCxnSpPr/>
          <p:nvPr/>
        </p:nvCxnSpPr>
        <p:spPr>
          <a:xfrm>
            <a:off x="3383279" y="4009644"/>
            <a:ext cx="0" cy="685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31" name="Connector 21530"/>
          <p:cNvCxnSpPr/>
          <p:nvPr/>
        </p:nvCxnSpPr>
        <p:spPr>
          <a:xfrm>
            <a:off x="3383279" y="4407408"/>
            <a:ext cx="0" cy="685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32" name="Connector 21531"/>
          <p:cNvCxnSpPr/>
          <p:nvPr/>
        </p:nvCxnSpPr>
        <p:spPr>
          <a:xfrm>
            <a:off x="3383279" y="4805172"/>
            <a:ext cx="1" cy="13716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33" name="Connector 21532"/>
          <p:cNvCxnSpPr/>
          <p:nvPr/>
        </p:nvCxnSpPr>
        <p:spPr>
          <a:xfrm flipH="1" flipV="1">
            <a:off x="3383279" y="5271516"/>
            <a:ext cx="1" cy="228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34" name="Connector 21533"/>
          <p:cNvCxnSpPr/>
          <p:nvPr/>
        </p:nvCxnSpPr>
        <p:spPr>
          <a:xfrm>
            <a:off x="3383279" y="5600700"/>
            <a:ext cx="0" cy="68579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35" name="Rectangle 21534"/>
          <p:cNvSpPr/>
          <p:nvPr/>
        </p:nvSpPr>
        <p:spPr>
          <a:xfrm>
            <a:off x="6858000" y="3209544"/>
            <a:ext cx="2834639" cy="420624"/>
          </a:xfrm>
          <a:prstGeom prst="rect">
            <a:avLst/>
          </a:prstGeom>
          <a:solidFill>
            <a:srgbClr val="E3B6AE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Human Approval
(high-risk actions) [6]</a:t>
            </a:r>
          </a:p>
        </p:txBody>
      </p:sp>
      <p:cxnSp>
        <p:nvCxnSpPr>
          <p:cNvPr id="21536" name="Connector 21535"/>
          <p:cNvCxnSpPr/>
          <p:nvPr/>
        </p:nvCxnSpPr>
        <p:spPr>
          <a:xfrm flipV="1">
            <a:off x="4709160" y="3419856"/>
            <a:ext cx="2148840" cy="45720"/>
          </a:xfrm>
          <a:prstGeom prst="line">
            <a:avLst/>
          </a:prstGeom>
          <a:ln w="19050">
            <a:solidFill>
              <a:srgbClr val="9B2D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37" name="TextBox 21536"/>
          <p:cNvSpPr txBox="1"/>
          <p:nvPr/>
        </p:nvSpPr>
        <p:spPr>
          <a:xfrm>
            <a:off x="4754880" y="3264408"/>
            <a:ext cx="822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9B2D1F"/>
                </a:solidFill>
                <a:latin typeface="Times New Roman"/>
              </a:rPr>
              <a:t>Yes</a:t>
            </a:r>
          </a:p>
        </p:txBody>
      </p:sp>
      <p:sp>
        <p:nvSpPr>
          <p:cNvPr id="21538" name="Rectangle 21537"/>
          <p:cNvSpPr/>
          <p:nvPr/>
        </p:nvSpPr>
        <p:spPr>
          <a:xfrm>
            <a:off x="6858000" y="3849624"/>
            <a:ext cx="2834639" cy="384048"/>
          </a:xfrm>
          <a:prstGeom prst="rect">
            <a:avLst/>
          </a:prstGeom>
          <a:solidFill>
            <a:srgbClr val="CECAC2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900" b="1">
                <a:solidFill>
                  <a:srgbClr val="000000"/>
                </a:solidFill>
                <a:latin typeface="Times New Roman"/>
              </a:rPr>
              <a:t>Terminate Safely
(denied — reason logged)</a:t>
            </a:r>
          </a:p>
        </p:txBody>
      </p:sp>
      <p:cxnSp>
        <p:nvCxnSpPr>
          <p:cNvPr id="21539" name="Connector 21538"/>
          <p:cNvCxnSpPr/>
          <p:nvPr/>
        </p:nvCxnSpPr>
        <p:spPr>
          <a:xfrm>
            <a:off x="8275320" y="3630168"/>
            <a:ext cx="0" cy="219456"/>
          </a:xfrm>
          <a:prstGeom prst="line">
            <a:avLst/>
          </a:prstGeom>
          <a:ln w="19050">
            <a:solidFill>
              <a:srgbClr val="9B2D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40" name="TextBox 21539"/>
          <p:cNvSpPr txBox="1"/>
          <p:nvPr/>
        </p:nvSpPr>
        <p:spPr>
          <a:xfrm>
            <a:off x="8321040" y="3630168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B2D1F"/>
                </a:solidFill>
                <a:latin typeface="Times New Roman"/>
              </a:rPr>
              <a:t>Denied</a:t>
            </a:r>
          </a:p>
        </p:txBody>
      </p:sp>
      <p:cxnSp>
        <p:nvCxnSpPr>
          <p:cNvPr id="21541" name="Connector 21540"/>
          <p:cNvCxnSpPr/>
          <p:nvPr/>
        </p:nvCxnSpPr>
        <p:spPr>
          <a:xfrm flipH="1">
            <a:off x="6537960" y="3419856"/>
            <a:ext cx="320040" cy="0"/>
          </a:xfrm>
          <a:prstGeom prst="line">
            <a:avLst/>
          </a:prstGeom>
          <a:ln w="19050">
            <a:solidFill>
              <a:srgbClr val="9B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42" name="Connector 21541"/>
          <p:cNvCxnSpPr/>
          <p:nvPr/>
        </p:nvCxnSpPr>
        <p:spPr>
          <a:xfrm>
            <a:off x="6537960" y="3419856"/>
            <a:ext cx="0" cy="425196"/>
          </a:xfrm>
          <a:prstGeom prst="line">
            <a:avLst/>
          </a:prstGeom>
          <a:ln w="19050">
            <a:solidFill>
              <a:srgbClr val="9B2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43" name="Connector 21542"/>
          <p:cNvCxnSpPr/>
          <p:nvPr/>
        </p:nvCxnSpPr>
        <p:spPr>
          <a:xfrm flipH="1">
            <a:off x="5943600" y="3845052"/>
            <a:ext cx="594360" cy="0"/>
          </a:xfrm>
          <a:prstGeom prst="line">
            <a:avLst/>
          </a:prstGeom>
          <a:ln w="19050">
            <a:solidFill>
              <a:srgbClr val="9B2D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44" name="TextBox 21543"/>
          <p:cNvSpPr txBox="1"/>
          <p:nvPr/>
        </p:nvSpPr>
        <p:spPr>
          <a:xfrm>
            <a:off x="5669280" y="352501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9B2D1F"/>
                </a:solidFill>
                <a:latin typeface="Times New Roman"/>
              </a:rPr>
              <a:t>Approved</a:t>
            </a:r>
          </a:p>
        </p:txBody>
      </p:sp>
      <p:sp>
        <p:nvSpPr>
          <p:cNvPr id="21545" name="Rectangle 21544"/>
          <p:cNvSpPr/>
          <p:nvPr/>
        </p:nvSpPr>
        <p:spPr>
          <a:xfrm>
            <a:off x="6858000" y="4791456"/>
            <a:ext cx="2834639" cy="420624"/>
          </a:xfrm>
          <a:prstGeom prst="rect">
            <a:avLst/>
          </a:prstGeom>
          <a:solidFill>
            <a:srgbClr val="CECAC2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Escalate to Human /
Terminate Safely</a:t>
            </a:r>
          </a:p>
        </p:txBody>
      </p:sp>
      <p:cxnSp>
        <p:nvCxnSpPr>
          <p:cNvPr id="21546" name="Connector 21545"/>
          <p:cNvCxnSpPr/>
          <p:nvPr/>
        </p:nvCxnSpPr>
        <p:spPr>
          <a:xfrm flipV="1">
            <a:off x="4709160" y="5001768"/>
            <a:ext cx="2148840" cy="54864"/>
          </a:xfrm>
          <a:prstGeom prst="line">
            <a:avLst/>
          </a:prstGeom>
          <a:ln w="19050">
            <a:solidFill>
              <a:srgbClr val="9B2D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47" name="TextBox 21546"/>
          <p:cNvSpPr txBox="1"/>
          <p:nvPr/>
        </p:nvSpPr>
        <p:spPr>
          <a:xfrm>
            <a:off x="4754880" y="4764024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B2D1F"/>
                </a:solidFill>
                <a:latin typeface="Times New Roman"/>
              </a:rPr>
              <a:t>No (retries exhausted)</a:t>
            </a:r>
          </a:p>
        </p:txBody>
      </p:sp>
      <p:cxnSp>
        <p:nvCxnSpPr>
          <p:cNvPr id="21548" name="Connector 21547"/>
          <p:cNvCxnSpPr/>
          <p:nvPr/>
        </p:nvCxnSpPr>
        <p:spPr>
          <a:xfrm flipH="1">
            <a:off x="457200" y="5056632"/>
            <a:ext cx="1600200" cy="0"/>
          </a:xfrm>
          <a:prstGeom prst="line">
            <a:avLst/>
          </a:prstGeom>
          <a:ln w="19050">
            <a:solidFill>
              <a:srgbClr val="9B2D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49" name="Connector 21548"/>
          <p:cNvCxnSpPr/>
          <p:nvPr/>
        </p:nvCxnSpPr>
        <p:spPr>
          <a:xfrm flipV="1">
            <a:off x="457200" y="1856232"/>
            <a:ext cx="0" cy="3200400"/>
          </a:xfrm>
          <a:prstGeom prst="line">
            <a:avLst/>
          </a:prstGeom>
          <a:ln w="19050">
            <a:solidFill>
              <a:srgbClr val="9B2D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50" name="Connector 21549"/>
          <p:cNvCxnSpPr/>
          <p:nvPr/>
        </p:nvCxnSpPr>
        <p:spPr>
          <a:xfrm>
            <a:off x="457200" y="1856232"/>
            <a:ext cx="365760" cy="0"/>
          </a:xfrm>
          <a:prstGeom prst="line">
            <a:avLst/>
          </a:prstGeom>
          <a:ln w="19050">
            <a:solidFill>
              <a:srgbClr val="9B2D1F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51" name="TextBox 21550"/>
          <p:cNvSpPr txBox="1"/>
          <p:nvPr/>
        </p:nvSpPr>
        <p:spPr>
          <a:xfrm>
            <a:off x="457200" y="4837176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1">
                <a:solidFill>
                  <a:srgbClr val="9B2D1F"/>
                </a:solidFill>
                <a:latin typeface="Times New Roman"/>
              </a:rPr>
              <a:t>No, retries &lt; MAX (retry)</a:t>
            </a:r>
          </a:p>
        </p:txBody>
      </p:sp>
      <p:sp>
        <p:nvSpPr>
          <p:cNvPr id="21552" name="TextBox 21551"/>
          <p:cNvSpPr txBox="1"/>
          <p:nvPr/>
        </p:nvSpPr>
        <p:spPr>
          <a:xfrm>
            <a:off x="274320" y="6108192"/>
            <a:ext cx="11612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Figure 6.1: Working flow of the proposed agent loop, including the pre-action human-approval gate and the bounded post-action retry loop. Source: Author's proposed workflow.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27989C5A-41FC-1875-3395-B88B566F3EFA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7. Agentic AI Algorithm</a:t>
            </a:r>
          </a:p>
        </p:txBody>
      </p:sp>
      <p:sp>
        <p:nvSpPr>
          <p:cNvPr id="11268" name="Footer Placeholder 2">
            <a:extLst>
              <a:ext uri="{FF2B5EF4-FFF2-40B4-BE49-F238E27FC236}">
                <a16:creationId xmlns:a16="http://schemas.microsoft.com/office/drawing/2014/main" id="{8B78397D-9220-2FC6-08CC-B3B41D45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1269" name="Slide Number Placeholder 7">
            <a:extLst>
              <a:ext uri="{FF2B5EF4-FFF2-40B4-BE49-F238E27FC236}">
                <a16:creationId xmlns:a16="http://schemas.microsoft.com/office/drawing/2014/main" id="{415821BC-0639-1DD9-7512-1A0F19549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552FB58-F3F0-478E-844C-D029BD3D48F3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3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1270" name="Rectangle 11269"/>
          <p:cNvSpPr/>
          <p:nvPr/>
        </p:nvSpPr>
        <p:spPr>
          <a:xfrm>
            <a:off x="365760" y="1417320"/>
            <a:ext cx="2103120" cy="960120"/>
          </a:xfrm>
          <a:prstGeom prst="rect">
            <a:avLst/>
          </a:prstGeom>
          <a:solidFill>
            <a:srgbClr val="F2C9B6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50" b="1">
                <a:solidFill>
                  <a:srgbClr val="000000"/>
                </a:solidFill>
                <a:latin typeface="Times New Roman"/>
              </a:rPr>
              <a:t>1. Plan</a:t>
            </a:r>
          </a:p>
        </p:txBody>
      </p:sp>
      <p:sp>
        <p:nvSpPr>
          <p:cNvPr id="11271" name="Rectangle 11270"/>
          <p:cNvSpPr/>
          <p:nvPr/>
        </p:nvSpPr>
        <p:spPr>
          <a:xfrm>
            <a:off x="2606039" y="1417320"/>
            <a:ext cx="2103120" cy="960120"/>
          </a:xfrm>
          <a:prstGeom prst="rect">
            <a:avLst/>
          </a:prstGeom>
          <a:solidFill>
            <a:srgbClr val="F2C9B6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50" b="1">
                <a:solidFill>
                  <a:srgbClr val="000000"/>
                </a:solidFill>
                <a:latin typeface="Times New Roman"/>
              </a:rPr>
              <a:t>2. Retrieve
(Memory + RAG)</a:t>
            </a:r>
          </a:p>
        </p:txBody>
      </p:sp>
      <p:sp>
        <p:nvSpPr>
          <p:cNvPr id="11272" name="Rectangle 11271"/>
          <p:cNvSpPr/>
          <p:nvPr/>
        </p:nvSpPr>
        <p:spPr>
          <a:xfrm>
            <a:off x="4846320" y="1417320"/>
            <a:ext cx="2103120" cy="960120"/>
          </a:xfrm>
          <a:prstGeom prst="rect">
            <a:avLst/>
          </a:prstGeom>
          <a:solidFill>
            <a:srgbClr val="E9E5DC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50" b="1">
                <a:solidFill>
                  <a:srgbClr val="000000"/>
                </a:solidFill>
                <a:latin typeface="Times New Roman"/>
              </a:rPr>
              <a:t>3. Select Tool</a:t>
            </a:r>
          </a:p>
        </p:txBody>
      </p:sp>
      <p:sp>
        <p:nvSpPr>
          <p:cNvPr id="11273" name="Rectangle 11272"/>
          <p:cNvSpPr/>
          <p:nvPr/>
        </p:nvSpPr>
        <p:spPr>
          <a:xfrm>
            <a:off x="7086600" y="1417320"/>
            <a:ext cx="2103120" cy="960120"/>
          </a:xfrm>
          <a:prstGeom prst="rect">
            <a:avLst/>
          </a:prstGeom>
          <a:solidFill>
            <a:srgbClr val="E3B6AE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50" b="1">
                <a:solidFill>
                  <a:srgbClr val="000000"/>
                </a:solidFill>
                <a:latin typeface="Times New Roman"/>
              </a:rPr>
              <a:t>4. Risk Check</a:t>
            </a:r>
          </a:p>
        </p:txBody>
      </p:sp>
      <p:sp>
        <p:nvSpPr>
          <p:cNvPr id="11274" name="Rectangle 11273"/>
          <p:cNvSpPr/>
          <p:nvPr/>
        </p:nvSpPr>
        <p:spPr>
          <a:xfrm>
            <a:off x="9326880" y="1417320"/>
            <a:ext cx="2103120" cy="960120"/>
          </a:xfrm>
          <a:prstGeom prst="rect">
            <a:avLst/>
          </a:prstGeom>
          <a:solidFill>
            <a:srgbClr val="E3B6AE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50" b="1">
                <a:solidFill>
                  <a:srgbClr val="000000"/>
                </a:solidFill>
                <a:latin typeface="Times New Roman"/>
              </a:rPr>
              <a:t>5. Human Approval
(if High Risk)</a:t>
            </a:r>
          </a:p>
        </p:txBody>
      </p:sp>
      <p:sp>
        <p:nvSpPr>
          <p:cNvPr id="11275" name="Rectangle 11274"/>
          <p:cNvSpPr/>
          <p:nvPr/>
        </p:nvSpPr>
        <p:spPr>
          <a:xfrm>
            <a:off x="365760" y="3337560"/>
            <a:ext cx="2103120" cy="960120"/>
          </a:xfrm>
          <a:prstGeom prst="rect">
            <a:avLst/>
          </a:prstGeom>
          <a:solidFill>
            <a:srgbClr val="DDC9C0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50" b="1">
                <a:solidFill>
                  <a:srgbClr val="000000"/>
                </a:solidFill>
                <a:latin typeface="Times New Roman"/>
              </a:rPr>
              <a:t>6. Execute</a:t>
            </a:r>
          </a:p>
        </p:txBody>
      </p:sp>
      <p:sp>
        <p:nvSpPr>
          <p:cNvPr id="11276" name="Rectangle 11275"/>
          <p:cNvSpPr/>
          <p:nvPr/>
        </p:nvSpPr>
        <p:spPr>
          <a:xfrm>
            <a:off x="2606039" y="3337560"/>
            <a:ext cx="2103120" cy="960120"/>
          </a:xfrm>
          <a:prstGeom prst="rect">
            <a:avLst/>
          </a:prstGeom>
          <a:solidFill>
            <a:srgbClr val="DDC9C0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50" b="1">
                <a:solidFill>
                  <a:srgbClr val="000000"/>
                </a:solidFill>
                <a:latin typeface="Times New Roman"/>
              </a:rPr>
              <a:t>7. Observe</a:t>
            </a:r>
          </a:p>
        </p:txBody>
      </p:sp>
      <p:sp>
        <p:nvSpPr>
          <p:cNvPr id="11277" name="Rectangle 11276"/>
          <p:cNvSpPr/>
          <p:nvPr/>
        </p:nvSpPr>
        <p:spPr>
          <a:xfrm>
            <a:off x="4846320" y="3337560"/>
            <a:ext cx="2103120" cy="960120"/>
          </a:xfrm>
          <a:prstGeom prst="rect">
            <a:avLst/>
          </a:prstGeom>
          <a:solidFill>
            <a:srgbClr val="DDC9C0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50" b="1">
                <a:solidFill>
                  <a:srgbClr val="000000"/>
                </a:solidFill>
                <a:latin typeface="Times New Roman"/>
              </a:rPr>
              <a:t>8. Verify</a:t>
            </a:r>
          </a:p>
        </p:txBody>
      </p:sp>
      <p:sp>
        <p:nvSpPr>
          <p:cNvPr id="11278" name="Rectangle 11277"/>
          <p:cNvSpPr/>
          <p:nvPr/>
        </p:nvSpPr>
        <p:spPr>
          <a:xfrm>
            <a:off x="7086600" y="3337560"/>
            <a:ext cx="2103120" cy="960120"/>
          </a:xfrm>
          <a:prstGeom prst="rect">
            <a:avLst/>
          </a:prstGeom>
          <a:solidFill>
            <a:srgbClr val="E3B6AE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50" b="1">
                <a:solidFill>
                  <a:srgbClr val="000000"/>
                </a:solidFill>
                <a:latin typeface="Times New Roman"/>
              </a:rPr>
              <a:t>9. Bounded Retry
(MAX_RETRIES)</a:t>
            </a:r>
          </a:p>
        </p:txBody>
      </p:sp>
      <p:sp>
        <p:nvSpPr>
          <p:cNvPr id="11279" name="Rectangle 11278"/>
          <p:cNvSpPr/>
          <p:nvPr/>
        </p:nvSpPr>
        <p:spPr>
          <a:xfrm>
            <a:off x="9326880" y="3337560"/>
            <a:ext cx="2103120" cy="960120"/>
          </a:xfrm>
          <a:prstGeom prst="rect">
            <a:avLst/>
          </a:prstGeom>
          <a:solidFill>
            <a:srgbClr val="E9E5DC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50" b="1">
                <a:solidFill>
                  <a:srgbClr val="000000"/>
                </a:solidFill>
                <a:latin typeface="Times New Roman"/>
              </a:rPr>
              <a:t>10. Escalate /
Return Result</a:t>
            </a:r>
          </a:p>
        </p:txBody>
      </p:sp>
      <p:cxnSp>
        <p:nvCxnSpPr>
          <p:cNvPr id="11280" name="Connector 11279"/>
          <p:cNvCxnSpPr/>
          <p:nvPr/>
        </p:nvCxnSpPr>
        <p:spPr>
          <a:xfrm>
            <a:off x="2468879" y="1897380"/>
            <a:ext cx="13716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1" name="Connector 11280"/>
          <p:cNvCxnSpPr/>
          <p:nvPr/>
        </p:nvCxnSpPr>
        <p:spPr>
          <a:xfrm>
            <a:off x="4709159" y="1897380"/>
            <a:ext cx="137161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2" name="Connector 11281"/>
          <p:cNvCxnSpPr/>
          <p:nvPr/>
        </p:nvCxnSpPr>
        <p:spPr>
          <a:xfrm>
            <a:off x="6949440" y="1897380"/>
            <a:ext cx="13716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3" name="Connector 11282"/>
          <p:cNvCxnSpPr/>
          <p:nvPr/>
        </p:nvCxnSpPr>
        <p:spPr>
          <a:xfrm>
            <a:off x="9189720" y="1897380"/>
            <a:ext cx="13716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4" name="Connector 11283"/>
          <p:cNvCxnSpPr/>
          <p:nvPr/>
        </p:nvCxnSpPr>
        <p:spPr>
          <a:xfrm>
            <a:off x="10378440" y="2377440"/>
            <a:ext cx="0" cy="4800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5" name="Connector 11284"/>
          <p:cNvCxnSpPr/>
          <p:nvPr/>
        </p:nvCxnSpPr>
        <p:spPr>
          <a:xfrm flipH="1">
            <a:off x="1417319" y="2857500"/>
            <a:ext cx="8961121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6" name="Connector 11285"/>
          <p:cNvCxnSpPr/>
          <p:nvPr/>
        </p:nvCxnSpPr>
        <p:spPr>
          <a:xfrm>
            <a:off x="1417319" y="2857500"/>
            <a:ext cx="0" cy="48006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7" name="Connector 11286"/>
          <p:cNvCxnSpPr/>
          <p:nvPr/>
        </p:nvCxnSpPr>
        <p:spPr>
          <a:xfrm>
            <a:off x="2468879" y="3817620"/>
            <a:ext cx="13716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8" name="Connector 11287"/>
          <p:cNvCxnSpPr/>
          <p:nvPr/>
        </p:nvCxnSpPr>
        <p:spPr>
          <a:xfrm>
            <a:off x="4709159" y="3817620"/>
            <a:ext cx="137161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9" name="Connector 11288"/>
          <p:cNvCxnSpPr/>
          <p:nvPr/>
        </p:nvCxnSpPr>
        <p:spPr>
          <a:xfrm>
            <a:off x="6949440" y="3817620"/>
            <a:ext cx="13716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0" name="Connector 11289"/>
          <p:cNvCxnSpPr/>
          <p:nvPr/>
        </p:nvCxnSpPr>
        <p:spPr>
          <a:xfrm>
            <a:off x="9189720" y="3817620"/>
            <a:ext cx="13716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95" name="TextBox 11294"/>
          <p:cNvSpPr txBox="1"/>
          <p:nvPr/>
        </p:nvSpPr>
        <p:spPr>
          <a:xfrm>
            <a:off x="365760" y="48006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00000"/>
                </a:solidFill>
                <a:latin typeface="Times New Roman"/>
              </a:rPr>
              <a:t>Note: “10. Escalate / Return Result” is reached either when verification succeeds (return result) or when MAX_RETRIES is exhausted (escalate to human).</a:t>
            </a:r>
          </a:p>
        </p:txBody>
      </p:sp>
      <p:cxnSp>
        <p:nvCxnSpPr>
          <p:cNvPr id="11296" name="Connector 11295"/>
          <p:cNvCxnSpPr/>
          <p:nvPr/>
        </p:nvCxnSpPr>
        <p:spPr>
          <a:xfrm>
            <a:off x="8138160" y="4297680"/>
            <a:ext cx="0" cy="320040"/>
          </a:xfrm>
          <a:prstGeom prst="line">
            <a:avLst/>
          </a:prstGeom>
          <a:ln w="25400">
            <a:solidFill>
              <a:srgbClr val="9B2D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7" name="Connector 11296"/>
          <p:cNvCxnSpPr/>
          <p:nvPr/>
        </p:nvCxnSpPr>
        <p:spPr>
          <a:xfrm flipH="1">
            <a:off x="109728" y="4617720"/>
            <a:ext cx="8028432" cy="0"/>
          </a:xfrm>
          <a:prstGeom prst="line">
            <a:avLst/>
          </a:prstGeom>
          <a:ln w="25400">
            <a:solidFill>
              <a:srgbClr val="9B2D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8" name="Connector 11297"/>
          <p:cNvCxnSpPr/>
          <p:nvPr/>
        </p:nvCxnSpPr>
        <p:spPr>
          <a:xfrm flipV="1">
            <a:off x="109728" y="1897380"/>
            <a:ext cx="0" cy="2720340"/>
          </a:xfrm>
          <a:prstGeom prst="line">
            <a:avLst/>
          </a:prstGeom>
          <a:ln w="25400">
            <a:solidFill>
              <a:srgbClr val="9B2D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9" name="Connector 11298"/>
          <p:cNvCxnSpPr/>
          <p:nvPr/>
        </p:nvCxnSpPr>
        <p:spPr>
          <a:xfrm>
            <a:off x="109728" y="1897380"/>
            <a:ext cx="256032" cy="0"/>
          </a:xfrm>
          <a:prstGeom prst="line">
            <a:avLst/>
          </a:prstGeom>
          <a:ln w="25400">
            <a:solidFill>
              <a:srgbClr val="9B2D1F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00" name="TextBox 11299"/>
          <p:cNvSpPr txBox="1"/>
          <p:nvPr/>
        </p:nvSpPr>
        <p:spPr>
          <a:xfrm>
            <a:off x="502920" y="43434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1">
                <a:solidFill>
                  <a:srgbClr val="9B2D1F"/>
                </a:solidFill>
                <a:latin typeface="Times New Roman"/>
              </a:rPr>
              <a:t>retry: if not verified and retries &lt; MAX_RETRIES, replan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itle 1">
            <a:extLst>
              <a:ext uri="{FF2B5EF4-FFF2-40B4-BE49-F238E27FC236}">
                <a16:creationId xmlns:a16="http://schemas.microsoft.com/office/drawing/2014/main" id="{D1A398B0-7A3D-9148-DCCE-FF7C2FC0736A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Conceptual prototype (built in Phase 3, after this document is approved) demonstrating the full loop end-to-end: Goal Understanding → Task Decomposition → Planning → Tool Selection → Execution → Observation → Verification → Final Response.</a:t>
            </a: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Planned components: a small local RAG index over a few reference text files; two or three safe, non-destructive tools (e.g., calculator, mock task-lookup); basic in-memory state; a bounded retry loop (MAX_RETRIES); one deliberately “high-risk” mock action to exercise the human-approval gate.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No destructive commands, no access to sensitive user data, and no real financial or credential operations are used anywhere in the prototype.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1600" b="0" i="1">
                <a:solidFill>
                  <a:srgbClr val="000000"/>
                </a:solidFill>
                <a:latin typeface="Times New Roman"/>
              </a:rPr>
              <a:t>This slide describes the planned scope only — implementation claims will be updated to reflect what is actually built once Phase 3 is complete.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989C5A-41FC-1875-3395-B88B566F3EFA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8. Implementation Details / Conceptual Prototype</a:t>
            </a:r>
          </a:p>
        </p:txBody>
      </p:sp>
      <p:sp>
        <p:nvSpPr>
          <p:cNvPr id="11268" name="Footer Placeholder 2">
            <a:extLst>
              <a:ext uri="{FF2B5EF4-FFF2-40B4-BE49-F238E27FC236}">
                <a16:creationId xmlns:a16="http://schemas.microsoft.com/office/drawing/2014/main" id="{8B78397D-9220-2FC6-08CC-B3B41D45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1269" name="Slide Number Placeholder 7">
            <a:extLst>
              <a:ext uri="{FF2B5EF4-FFF2-40B4-BE49-F238E27FC236}">
                <a16:creationId xmlns:a16="http://schemas.microsoft.com/office/drawing/2014/main" id="{415821BC-0639-1DD9-7512-1A0F19549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552FB58-F3F0-478E-844C-D029BD3D48F3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3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B5FA0B6-45A9-DD61-B038-A77EE8F59E2C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800"/>
              </a:spcAft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Hardware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Standard laptop / desktop, 8GB+ RAM recommended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Internet connectivity (for LLM API calls)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CPU sufficient for prototype scale; GPU not required</a:t>
            </a:r>
          </a:p>
          <a:p>
            <a:pPr>
              <a:spcAft>
                <a:spcPts val="800"/>
              </a:spcAft>
              <a:buNone/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 </a:t>
            </a:r>
          </a:p>
          <a:p>
            <a:pPr>
              <a:spcAft>
                <a:spcPts val="800"/>
              </a:spcAft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Software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Python 3.x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LLM API (used only in the Phase 3 prototype)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Lightweight tool-calling / agent-orchestration approach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Small local vector store for RAG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Git &amp; GitHub, VS Code, web browser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8144B4-C37F-D331-8B2C-A73BB580BFAD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9. Hardware / Software Specification</a:t>
            </a:r>
          </a:p>
        </p:txBody>
      </p:sp>
      <p:sp>
        <p:nvSpPr>
          <p:cNvPr id="23556" name="Footer Placeholder 2">
            <a:extLst>
              <a:ext uri="{FF2B5EF4-FFF2-40B4-BE49-F238E27FC236}">
                <a16:creationId xmlns:a16="http://schemas.microsoft.com/office/drawing/2014/main" id="{A7E55B66-1DE7-09E3-4819-DBAE52BCC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23557" name="Slide Number Placeholder 7">
            <a:extLst>
              <a:ext uri="{FF2B5EF4-FFF2-40B4-BE49-F238E27FC236}">
                <a16:creationId xmlns:a16="http://schemas.microsoft.com/office/drawing/2014/main" id="{0FB5172C-496D-CF86-355C-014EB7A350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E0A633A-2F7E-46F4-BA2C-F7D57F0C5D7A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9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27989C5A-41FC-1875-3395-B88B566F3EFA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10. Evaluation Framework</a:t>
            </a:r>
          </a:p>
        </p:txBody>
      </p:sp>
      <p:sp>
        <p:nvSpPr>
          <p:cNvPr id="11268" name="Footer Placeholder 2">
            <a:extLst>
              <a:ext uri="{FF2B5EF4-FFF2-40B4-BE49-F238E27FC236}">
                <a16:creationId xmlns:a16="http://schemas.microsoft.com/office/drawing/2014/main" id="{8B78397D-9220-2FC6-08CC-B3B41D45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1269" name="Slide Number Placeholder 7">
            <a:extLst>
              <a:ext uri="{FF2B5EF4-FFF2-40B4-BE49-F238E27FC236}">
                <a16:creationId xmlns:a16="http://schemas.microsoft.com/office/drawing/2014/main" id="{415821BC-0639-1DD9-7512-1A0F19549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552FB58-F3F0-478E-844C-D029BD3D48F3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3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11270" name="Table 11269"/>
          <p:cNvGraphicFramePr>
            <a:graphicFrameLocks noGrp="1"/>
          </p:cNvGraphicFramePr>
          <p:nvPr/>
        </p:nvGraphicFramePr>
        <p:xfrm>
          <a:off x="457200" y="109728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731520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Proposed Metric (not yet measured)</a:t>
                      </a:r>
                    </a:p>
                  </a:txBody>
                  <a:tcPr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What it would assess</a:t>
                      </a:r>
                    </a:p>
                  </a:txBody>
                  <a:tcPr>
                    <a:solidFill>
                      <a:srgbClr val="D348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latin typeface="Times New Roman"/>
                        </a:rPr>
                        <a:t>Task Success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Whether the agent reaches the goal within the bounded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latin typeface="Times New Roman"/>
                        </a:rPr>
                        <a:t>Planning Accuracy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Whether decomposed subtasks are correct/sufficient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latin typeface="Times New Roman"/>
                        </a:rPr>
                        <a:t>Tool-Call Success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Whether the correct tool is invoked without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latin typeface="Times New Roman"/>
                        </a:rPr>
                        <a:t>Retrieval / Knowledge Grounding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Whether retrieved context is relevant to the subtask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latin typeface="Times New Roman"/>
                        </a:rPr>
                        <a:t>Verification Success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Whether verification correctly accepts/rejects outcomes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latin typeface="Times New Roman"/>
                        </a:rPr>
                        <a:t>Execution Time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Wall-clock time per goal, per retry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latin typeface="Times New Roman"/>
                        </a:rPr>
                        <a:t>Human Intervention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Fraction of actions routed to human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latin typeface="Times New Roman"/>
                        </a:rPr>
                        <a:t>Safety Violation Rate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Times New Roman"/>
                        </a:rPr>
                        <a:t>Actions that would bypass the risk gate if absent</a:t>
                      </a:r>
                    </a:p>
                  </a:txBody>
                  <a:tcPr>
                    <a:solidFill>
                      <a:srgbClr val="F2C9B6"/>
                    </a:solidFill>
                  </a:tcPr>
                </a:tc>
              </a:tr>
            </a:tbl>
          </a:graphicData>
        </a:graphic>
      </p:graphicFrame>
      <p:sp>
        <p:nvSpPr>
          <p:cNvPr id="11271" name="TextBox 11270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7030A0"/>
                </a:solidFill>
                <a:latin typeface="Times New Roman"/>
              </a:rPr>
              <a:t>No experiment has been performed yet — these are proposed metrics to evaluate the architecture once the Phase 3 prototype exists.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itle 1">
            <a:extLst>
              <a:ext uri="{FF2B5EF4-FFF2-40B4-BE49-F238E27FC236}">
                <a16:creationId xmlns:a16="http://schemas.microsoft.com/office/drawing/2014/main" id="{D1A398B0-7A3D-9148-DCCE-FF7C2FC0736A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Autonomous coding assistants that plan multi-file changes, run tests, and verify results before presenting a diff.</a:t>
            </a: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Enterprise workflow copilots that read documents, query internal systems, and draft actions (e.g., ticket triage) with human approval for customer-facing steps.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Research assistants that retrieve literature (RAG) and flag claims needing human verification.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Personal task agents (scheduling, form-filling, data lookup) where irreversible actions (payments, sending messages) are always gated behind explicit user approval.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989C5A-41FC-1875-3395-B88B566F3EFA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11. Applications</a:t>
            </a:r>
          </a:p>
        </p:txBody>
      </p:sp>
      <p:sp>
        <p:nvSpPr>
          <p:cNvPr id="11268" name="Footer Placeholder 2">
            <a:extLst>
              <a:ext uri="{FF2B5EF4-FFF2-40B4-BE49-F238E27FC236}">
                <a16:creationId xmlns:a16="http://schemas.microsoft.com/office/drawing/2014/main" id="{8B78397D-9220-2FC6-08CC-B3B41D45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1269" name="Slide Number Placeholder 7">
            <a:extLst>
              <a:ext uri="{FF2B5EF4-FFF2-40B4-BE49-F238E27FC236}">
                <a16:creationId xmlns:a16="http://schemas.microsoft.com/office/drawing/2014/main" id="{415821BC-0639-1DD9-7512-1A0F19549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552FB58-F3F0-478E-844C-D029BD3D48F3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3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itle 1">
            <a:extLst>
              <a:ext uri="{FF2B5EF4-FFF2-40B4-BE49-F238E27FC236}">
                <a16:creationId xmlns:a16="http://schemas.microsoft.com/office/drawing/2014/main" id="{D1A398B0-7A3D-9148-DCCE-FF7C2FC0736A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Reliable risk classification (“high-risk” vs. “low-risk”) is context-dependent and not solved by a fixed rule set alone [6].</a:t>
            </a: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Verification quality depends on how clearly “expected outcome” is specified for ambiguous goals.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Retrieval, multiple LLM calls, and human-approval pauses add latency and cost overhead.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Multi-agent extensions [5] introduce coordination and trust issues beyond this seminar's single-agent scope.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This seminar's own evaluation (Section 10) is structural/qualitative, not a controlled experiment — a stated limitation, not a hidden one.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989C5A-41FC-1875-3395-B88B566F3EFA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12. Challenges and Limitations</a:t>
            </a:r>
          </a:p>
        </p:txBody>
      </p:sp>
      <p:sp>
        <p:nvSpPr>
          <p:cNvPr id="11268" name="Footer Placeholder 2">
            <a:extLst>
              <a:ext uri="{FF2B5EF4-FFF2-40B4-BE49-F238E27FC236}">
                <a16:creationId xmlns:a16="http://schemas.microsoft.com/office/drawing/2014/main" id="{8B78397D-9220-2FC6-08CC-B3B41D45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1269" name="Slide Number Placeholder 7">
            <a:extLst>
              <a:ext uri="{FF2B5EF4-FFF2-40B4-BE49-F238E27FC236}">
                <a16:creationId xmlns:a16="http://schemas.microsoft.com/office/drawing/2014/main" id="{415821BC-0639-1DD9-7512-1A0F19549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552FB58-F3F0-478E-844C-D029BD3D48F3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3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B36BC0B-5EBD-2C05-9AA1-4D116419444C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Agentic AI extends LLMs from single-turn generation to autonomous, multi-step, goal-directed behavior by combining planning, memory/retrieval, tool use, and verification [1][2][3][4][7].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This seminar proposed an architecture that separates planning from execution and pre-action risk screening from post-action verification, with bounded human-in-the-loop approval and a retry-bounded verification loop.</a:t>
            </a:r>
          </a:p>
          <a:p>
            <a:pPr marL="285750" indent="-285750">
              <a:spcAft>
                <a:spcPts val="800"/>
              </a:spcAft>
              <a:buFont typeface="Wingdings" pitchFamily="2" charset="2"/>
              <a:buChar char="§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Future work: complete the Phase 3 prototype, extend to multi-agent settings [5] while preserving the same reliability guarantees, and empirically evaluate the proposed metrics once a working system exists.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3F42FD-3F3A-4E7A-D867-43A9C7D60C73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13. Conclusion and Future Work</a:t>
            </a:r>
          </a:p>
        </p:txBody>
      </p:sp>
      <p:sp>
        <p:nvSpPr>
          <p:cNvPr id="25604" name="Footer Placeholder 2">
            <a:extLst>
              <a:ext uri="{FF2B5EF4-FFF2-40B4-BE49-F238E27FC236}">
                <a16:creationId xmlns:a16="http://schemas.microsoft.com/office/drawing/2014/main" id="{F6DB7B20-CE99-E3FC-F9B1-E8166DEDD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25605" name="Slide Number Placeholder 7">
            <a:extLst>
              <a:ext uri="{FF2B5EF4-FFF2-40B4-BE49-F238E27FC236}">
                <a16:creationId xmlns:a16="http://schemas.microsoft.com/office/drawing/2014/main" id="{A997CD8A-406D-5C1B-26B1-89E6027F13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02A33BB-4A29-47BC-8E72-5896F0862EFD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10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129BA407-4381-929F-A485-567EF0DA9E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96EB035-1ED6-4C4C-8985-3F6557FE4114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11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C73ABF-3DCA-CDE3-233B-2617EB3F1827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14. References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CCE8A7-9270-E398-837D-ABF528C3EFED}"/>
              </a:ext>
            </a:extLst>
          </p:cNvPr>
          <p:cNvSpPr txBox="1">
            <a:spLocks/>
          </p:cNvSpPr>
          <p:nvPr/>
        </p:nvSpPr>
        <p:spPr>
          <a:xfrm>
            <a:off x="323850" y="931863"/>
            <a:ext cx="11534775" cy="529272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  <a:spcAft>
                <a:spcPts val="1800"/>
              </a:spcAft>
              <a:buNone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[1] D. B. Acharya, K. Kuppan, and B. Divya, “Agentic AI: Autonomous Intelligence for Complex Goals — A Comprehensive Survey,” IEEE Access, vol. 13, pp. 18912–18936, 2025.</a:t>
            </a:r>
          </a:p>
          <a:p>
            <a:pPr>
              <a:spcAft>
                <a:spcPts val="1800"/>
              </a:spcAft>
              <a:buNone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[2] X. Dong, X. Zhang, W. Bu, D. Zhang, and F. Cao, “A Survey of LLM-based Agents: Theories, Technologies, Applications and Suggestions,” in Proc. 3rd Int. Conf. Artificial Intelligence, Internet of Things and Cloud Computing Technology (AIoTC), 2024, pp. 407–413.</a:t>
            </a:r>
          </a:p>
          <a:p>
            <a:pPr>
              <a:spcAft>
                <a:spcPts val="1800"/>
              </a:spcAft>
              <a:buNone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[3] L. Wang, C. Ma, X. Feng, et al., “A survey on large language model based autonomous agents,” Frontiers of Computer Science, vol. 18, no. 6, p. 186345, 2024.</a:t>
            </a:r>
          </a:p>
          <a:p>
            <a:pPr>
              <a:spcAft>
                <a:spcPts val="1800"/>
              </a:spcAft>
              <a:buNone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[4] S. Yao, J. Zhao, D. Yu, N. Du, I. Shafran, K. Narasimhan, and Y. Cao, “ReAct: Synergizing Reasoning and Acting in Language Models,” in Proc. ICLR, 2023.</a:t>
            </a:r>
          </a:p>
        </p:txBody>
      </p:sp>
      <p:sp>
        <p:nvSpPr>
          <p:cNvPr id="27653" name="Footer Placeholder 2">
            <a:extLst>
              <a:ext uri="{FF2B5EF4-FFF2-40B4-BE49-F238E27FC236}">
                <a16:creationId xmlns:a16="http://schemas.microsoft.com/office/drawing/2014/main" id="{ED9058E0-8E1E-8C93-2E62-529E8D69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129BA407-4381-929F-A485-567EF0DA9E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96EB035-1ED6-4C4C-8985-3F6557FE4114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11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C73ABF-3DCA-CDE3-233B-2617EB3F1827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14. References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CCE8A7-9270-E398-837D-ABF528C3EFED}"/>
              </a:ext>
            </a:extLst>
          </p:cNvPr>
          <p:cNvSpPr txBox="1">
            <a:spLocks/>
          </p:cNvSpPr>
          <p:nvPr/>
        </p:nvSpPr>
        <p:spPr>
          <a:xfrm>
            <a:off x="323850" y="931863"/>
            <a:ext cx="11534775" cy="529272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1800"/>
              </a:spcAft>
              <a:buNone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[5] X. Li, S. Wang, S. Zeng, Y. Wu, and Y. Yang, “A survey on LLM-based multi-agent systems: workflow, infrastructure, and challenges,” Vicinagearth, vol. 1, no. 1, art. 9, 2024.</a:t>
            </a:r>
          </a:p>
          <a:p>
            <a:pPr>
              <a:spcAft>
                <a:spcPts val="1800"/>
              </a:spcAft>
              <a:buNone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[6] Y. Gan, Y. Yang, Z. Ma, P. He, R. Zeng, Y. Wang, Q. Li, C. Zhou, S. Li, T. Wang, Y. Gao, Y. Wu, and S. Ji, “Navigating the Risks: A Survey of Security and Privacy Threats in LLM-Based Agents,” ACM Transactions on Software Engineering and Methodology, 2026, doi: 10.1145/3807666.</a:t>
            </a:r>
          </a:p>
          <a:p>
            <a:pPr>
              <a:spcAft>
                <a:spcPts val="1800"/>
              </a:spcAft>
              <a:buNone/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[7] P. Lewis et al., “Retrieval-Augmented Generation for Knowledge-Intensive NLP Tasks,” in Proc. NeurIPS, 2020.</a:t>
            </a:r>
          </a:p>
        </p:txBody>
      </p:sp>
      <p:sp>
        <p:nvSpPr>
          <p:cNvPr id="27653" name="Footer Placeholder 2">
            <a:extLst>
              <a:ext uri="{FF2B5EF4-FFF2-40B4-BE49-F238E27FC236}">
                <a16:creationId xmlns:a16="http://schemas.microsoft.com/office/drawing/2014/main" id="{ED9058E0-8E1E-8C93-2E62-529E8D69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B715BF4-42F8-5C83-DA33-DB8007FD73DD}"/>
              </a:ext>
            </a:extLst>
          </p:cNvPr>
          <p:cNvSpPr txBox="1">
            <a:spLocks/>
          </p:cNvSpPr>
          <p:nvPr/>
        </p:nvSpPr>
        <p:spPr>
          <a:xfrm>
            <a:off x="4405313" y="2147888"/>
            <a:ext cx="7515225" cy="408622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 fontAlgn="auto">
              <a:spcAft>
                <a:spcPts val="0"/>
              </a:spcAft>
              <a:defRPr/>
            </a:pPr>
            <a:endParaRPr lang="en-US" sz="5400" b="1" i="1" kern="0" dirty="0">
              <a:solidFill>
                <a:srgbClr val="000000"/>
              </a:solidFill>
              <a:latin typeface="Times New Roman" pitchFamily="18" charset="0"/>
              <a:ea typeface="Lucida Sans Unicode" charset="0"/>
              <a:cs typeface="Times New Roman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sz="5400" b="1" i="1" kern="0" dirty="0">
              <a:solidFill>
                <a:srgbClr val="000000"/>
              </a:solidFill>
              <a:latin typeface="Times New Roman" pitchFamily="18" charset="0"/>
              <a:ea typeface="Lucida Sans Unicode" charset="0"/>
              <a:cs typeface="Times New Roman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r>
              <a:rPr lang="en-US" sz="5400" b="1" i="1" kern="0" dirty="0">
                <a:solidFill>
                  <a:srgbClr val="000000"/>
                </a:solidFill>
                <a:latin typeface="Times New Roman" pitchFamily="18" charset="0"/>
                <a:ea typeface="Lucida Sans Unicode" charset="0"/>
                <a:cs typeface="Times New Roman" pitchFamily="18" charset="0"/>
              </a:rPr>
              <a:t>        Any Questions?</a:t>
            </a:r>
            <a:endParaRPr lang="en-IN" sz="5400" b="1" i="1" kern="0" dirty="0">
              <a:solidFill>
                <a:srgbClr val="000000"/>
              </a:solidFill>
              <a:latin typeface="Times New Roman" pitchFamily="18" charset="0"/>
              <a:ea typeface="Lucida Sans Unicode" charset="0"/>
              <a:cs typeface="Times New Roman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sz="1800" dirty="0">
              <a:latin typeface="Arial Narrow" pitchFamily="34" charset="0"/>
              <a:cs typeface="Times New Roman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altLang="en-US" sz="1800" dirty="0">
              <a:latin typeface="Arial Narrow" pitchFamily="34" charset="0"/>
              <a:cs typeface="Times New Roman" panose="02020603050405020304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altLang="en-US" sz="1800" dirty="0">
              <a:latin typeface="Arial Narrow" pitchFamily="34" charset="0"/>
              <a:cs typeface="Times New Roman" panose="02020603050405020304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altLang="en-US" sz="1800" dirty="0">
              <a:latin typeface="Arial Narrow" pitchFamily="34" charset="0"/>
              <a:cs typeface="Times New Roman" panose="02020603050405020304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altLang="en-US" sz="1800" dirty="0">
              <a:latin typeface="Arial Narrow" pitchFamily="34" charset="0"/>
              <a:cs typeface="Times New Roman" panose="02020603050405020304" pitchFamily="18" charset="0"/>
            </a:endParaRPr>
          </a:p>
          <a:p>
            <a:pPr marL="182880" indent="-182880" algn="just" fontAlgn="auto">
              <a:spcAft>
                <a:spcPts val="0"/>
              </a:spcAft>
              <a:defRPr/>
            </a:pPr>
            <a:endParaRPr lang="en-US" sz="1800" dirty="0">
              <a:latin typeface="Arial Narrow" pitchFamily="34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D1F637-EFB0-68B6-F576-3040E5BDC3D4}"/>
              </a:ext>
            </a:extLst>
          </p:cNvPr>
          <p:cNvSpPr/>
          <p:nvPr/>
        </p:nvSpPr>
        <p:spPr>
          <a:xfrm>
            <a:off x="247650" y="92075"/>
            <a:ext cx="11672888" cy="17097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0" b="1" i="1" dirty="0">
                <a:solidFill>
                  <a:schemeClr val="tx1"/>
                </a:solidFill>
                <a:latin typeface="Arial Narrow" pitchFamily="34" charset="0"/>
              </a:rPr>
              <a:t>Thank You !</a:t>
            </a:r>
            <a:endParaRPr lang="en-IN" sz="6000" b="1" i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29700" name="Slide Number Placeholder 5">
            <a:extLst>
              <a:ext uri="{FF2B5EF4-FFF2-40B4-BE49-F238E27FC236}">
                <a16:creationId xmlns:a16="http://schemas.microsoft.com/office/drawing/2014/main" id="{F3AFFD41-8F72-5DFA-AADE-6E0B59C82E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C17B7C3-8F6E-4EBB-8396-B9C87D481CC8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12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8" name="Picture 4" descr="C:\Users\VIVEK\Desktop\art.png">
            <a:extLst>
              <a:ext uri="{FF2B5EF4-FFF2-40B4-BE49-F238E27FC236}">
                <a16:creationId xmlns:a16="http://schemas.microsoft.com/office/drawing/2014/main" id="{7C3A00B5-2EF5-8D47-CF93-2777C62FC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160588"/>
            <a:ext cx="2209800" cy="404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9945E27B-479D-EB66-CA0B-15890A03E3F8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rgbClr val="000000"/>
                </a:solidFill>
                <a:latin typeface="Arial Narrow" pitchFamily="34" charset="0"/>
                <a:ea typeface="Lucida Sans Unicode" pitchFamily="34" charset="0"/>
              </a:rPr>
              <a:t>2. Related Work / Literature Survey</a:t>
            </a:r>
          </a:p>
        </p:txBody>
      </p:sp>
      <p:sp>
        <p:nvSpPr>
          <p:cNvPr id="19460" name="Footer Placeholder 2">
            <a:extLst>
              <a:ext uri="{FF2B5EF4-FFF2-40B4-BE49-F238E27FC236}">
                <a16:creationId xmlns:a16="http://schemas.microsoft.com/office/drawing/2014/main" id="{9E13AC0A-3A1F-ECC6-FCD3-21DEB1952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9461" name="Slide Number Placeholder 7">
            <a:extLst>
              <a:ext uri="{FF2B5EF4-FFF2-40B4-BE49-F238E27FC236}">
                <a16:creationId xmlns:a16="http://schemas.microsoft.com/office/drawing/2014/main" id="{89E5F518-B0BB-B152-8CA9-D841322CC0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E85DAF8-B138-4B6D-B2FC-6FB56B4647A0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7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19462" name="Table 19461"/>
          <p:cNvGraphicFramePr>
            <a:graphicFrameLocks noGrp="1"/>
          </p:cNvGraphicFramePr>
          <p:nvPr/>
        </p:nvGraphicFramePr>
        <p:xfrm>
          <a:off x="320040" y="1188720"/>
          <a:ext cx="115214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828800"/>
                <a:gridCol w="1737360"/>
                <a:gridCol w="4206240"/>
                <a:gridCol w="320040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Ref</a:t>
                      </a:r>
                    </a:p>
                  </a:txBody>
                  <a:tcPr marT="45720" marB="45720">
                    <a:solidFill>
                      <a:srgbClr val="D348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Author, Year</a:t>
                      </a:r>
                    </a:p>
                  </a:txBody>
                  <a:tcPr marT="45720" marB="45720">
                    <a:solidFill>
                      <a:srgbClr val="D348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Venue</a:t>
                      </a:r>
                    </a:p>
                  </a:txBody>
                  <a:tcPr marT="45720" marB="45720">
                    <a:solidFill>
                      <a:srgbClr val="D348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Contribution</a:t>
                      </a:r>
                    </a:p>
                  </a:txBody>
                  <a:tcPr marT="45720" marB="45720">
                    <a:solidFill>
                      <a:srgbClr val="D348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Relevance / Limitation</a:t>
                      </a:r>
                    </a:p>
                  </a:txBody>
                  <a:tcPr marT="45720" marB="45720">
                    <a:solidFill>
                      <a:srgbClr val="D3481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[5]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Li et al., 2024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Vicinagearth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Survey of LLM multi-agent workflow &amp; infrastructure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Multi-agent scope; this seminar targets single-agent reliability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[6]</a:t>
                      </a:r>
                    </a:p>
                  </a:txBody>
                  <a:tcPr marT="45720" marB="45720">
                    <a:solidFill>
                      <a:srgbClr val="F2C9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Gan et al., 2026</a:t>
                      </a:r>
                    </a:p>
                  </a:txBody>
                  <a:tcPr marT="45720" marB="45720">
                    <a:solidFill>
                      <a:srgbClr val="F2C9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ACM TOSEM</a:t>
                      </a:r>
                    </a:p>
                  </a:txBody>
                  <a:tcPr marT="45720" marB="45720">
                    <a:solidFill>
                      <a:srgbClr val="F2C9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Taxonomy of security and privacy threats in LLM-based agents</a:t>
                      </a:r>
                    </a:p>
                  </a:txBody>
                  <a:tcPr marT="45720" marB="45720">
                    <a:solidFill>
                      <a:srgbClr val="F2C9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Threat catalog, not a control-loop design</a:t>
                      </a:r>
                    </a:p>
                  </a:txBody>
                  <a:tcPr marT="45720" marB="45720">
                    <a:solidFill>
                      <a:srgbClr val="F2C9B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[7]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Lewis et al., 2020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NeurIPS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Retrieval-Augmented Generation (RAG)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Basis for Memory+RAG block in our architecture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1106</TotalTime>
  <Words>788</Words>
  <Application>Microsoft Office PowerPoint</Application>
  <PresentationFormat>Widescreen</PresentationFormat>
  <Paragraphs>297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Franklin Gothic Book</vt:lpstr>
      <vt:lpstr>Perpetua</vt:lpstr>
      <vt:lpstr>Wingdings 2</vt:lpstr>
      <vt:lpstr>Calibri</vt:lpstr>
      <vt:lpstr>Times New Roman</vt:lpstr>
      <vt:lpstr>Arial Narrow</vt:lpstr>
      <vt:lpstr>Lucida Sans Unicode</vt:lpstr>
      <vt:lpstr>Wingdings</vt:lpstr>
      <vt:lpstr>Equity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“Enhancing Security for Selective Dissemination of XML Document using Structure Based Routing”</dc:title>
  <dc:creator>SGGS</dc:creator>
  <cp:lastModifiedBy>Ayush Korde</cp:lastModifiedBy>
  <cp:revision>527</cp:revision>
  <dcterms:created xsi:type="dcterms:W3CDTF">2017-02-20T07:10:51Z</dcterms:created>
  <dcterms:modified xsi:type="dcterms:W3CDTF">2026-09-22T18:20:08Z</dcterms:modified>
</cp:coreProperties>
</file>